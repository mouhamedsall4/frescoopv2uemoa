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7A5C"/>
                </a:solidFill>
              </a:defRPr>
            </a:pPr>
            <a:r>
              <a:t>Hackathon Filières Agricoles GIM-UEMOA 2026 — Point 4 : Accès au financement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FresCoop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De l'invisible au finançable. En 90 jours.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0F1F1A"/>
                </a:solidFill>
              </a:defRPr>
            </a:pPr>
          </a:p>
          <a:p>
            <a:pPr algn="l">
              <a:spcBef>
                <a:spcPts val="800"/>
              </a:spcBef>
              <a:defRPr sz="1600" b="0">
                <a:solidFill>
                  <a:srgbClr val="A0D0C0"/>
                </a:solidFill>
              </a:defRPr>
            </a:pPr>
            <a:r>
              <a:t>Chaque vente, chaque livraison, chaque paiement d'un agriculteur</a:t>
            </a:r>
            <a:br/>
            <a:r>
              <a:t>devient une preuve bancaire vérifiable.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C"/>
                </a:solidFill>
              </a:defRPr>
            </a:pPr>
            <a:r>
              <a:t>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F1A"/>
                </a:solidFill>
              </a:defRPr>
            </a:pPr>
            <a:r>
              <a:t>Les agriculteurs sont invisibles</a:t>
            </a:r>
            <a:br/>
            <a:r>
              <a:t>pour le système financier.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7A5C"/>
                </a:solidFill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des agriculteurs</a:t>
            </a:r>
            <a:br/>
            <a:r>
              <a:t>sans accès au crédit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926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7A5C"/>
                </a:solidFill>
              </a:defRPr>
            </a:pPr>
            <a:r>
              <a:t>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du crédit bancaire</a:t>
            </a:r>
            <a:br/>
            <a:r>
              <a:t>va à l'agriculture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926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7A5C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historique financier</a:t>
            </a:r>
            <a:br/>
            <a:r>
              <a:t>pour les banques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Pas parce qu'ils ne sont pas fiables — parce qu'ils n'ont aucune preuve exploitable.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C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F1A"/>
                </a:solidFill>
              </a:defRPr>
            </a:pPr>
            <a:r>
              <a:t>Chaque transaction = une preuve.</a:t>
            </a:r>
            <a:br/>
            <a:r>
              <a:t>Chaque preuve = un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560320"/>
            <a:ext cx="411480" cy="411480"/>
          </a:xfrm>
          <a:prstGeom prst="ellipse">
            <a:avLst/>
          </a:prstGeom>
          <a:solidFill>
            <a:srgbClr val="1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984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Captation automatique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80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Ventes, livraisons, paiements → données de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1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042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Scoring intelligent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Score 0-100 en temps réel, basé sur l'activité réelle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1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01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Dossier bancaire portable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PDF vérifiable par QR code, présentable à toute banque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577840"/>
            <a:ext cx="411480" cy="411480"/>
          </a:xfrm>
          <a:prstGeom prst="ellipse">
            <a:avLst/>
          </a:prstGeom>
          <a:solidFill>
            <a:srgbClr val="1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159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Accès au crédit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97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En 90 jours : d'invisible à finançable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C"/>
                </a:solidFill>
              </a:defRPr>
            </a:pPr>
            <a:r>
              <a:t>COMMENT ÇA 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F1A"/>
                </a:solidFill>
              </a:defRPr>
            </a:pPr>
            <a:r>
              <a:t>De l'inscription au premier crédit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Inscription + vérification CNI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Publication des produits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976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Réception de commandes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3949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Paiement confirmé (PayDunya)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Score qui monte automatiquement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Dossier de crédit exportable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2976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Présentation à une banque/SFD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3949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F1A"/>
                </a:solidFill>
              </a:defRPr>
            </a:pPr>
            <a:r>
              <a:t>Obtention du microcrédit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C"/>
                </a:solidFill>
              </a:defRPr>
            </a:pPr>
            <a:r>
              <a:t>GARANTIES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F1A"/>
                </a:solidFill>
              </a:defRPr>
            </a:pPr>
            <a:r>
              <a:t>4 couches de sécurité. Zéro risque pour la banque.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C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Prélèvement à la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25% retenu automatiquement à chaque transaction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C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Taux progressif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974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0% sous 75K, 15-30% au-dessus — protège le minimum vital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C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Caution solidaire digitale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Groupes de 5 agriculteurs, 98% de remboursement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C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Fonds de garantie mutualisé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709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2% par transaction → couvre 20% des impayés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Taux de défaut : &lt; 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Remboursement : 6-8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A5C"/>
                </a:solidFill>
              </a:defRPr>
            </a:pPr>
            <a:r>
              <a:t>Couverture banque :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C"/>
                </a:solidFill>
              </a:defRPr>
            </a:pPr>
            <a:r>
              <a:t>MODÈLE ÉCONOMIQUE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F1A"/>
                </a:solidFill>
              </a:defRPr>
            </a:pPr>
            <a:r>
              <a:t>Gratuit pour l'agriculteur. Rentable pour tous.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F1A"/>
                </a:solidFill>
              </a:defRPr>
            </a:pPr>
            <a:r>
              <a:t>Agriculteur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7A5C"/>
                </a:solidFill>
              </a:defRPr>
            </a:pPr>
            <a:r>
              <a:t>GRATUIT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F1A"/>
                </a:solidFill>
              </a:defRPr>
            </a:pPr>
            <a:r>
              <a:t>Acheteur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7A5C"/>
                </a:solidFill>
              </a:defRPr>
            </a:pPr>
            <a:r>
              <a:t>Paie le 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F1A"/>
                </a:solidFill>
              </a:defRPr>
            </a:pPr>
            <a:r>
              <a:t>SFD / Banque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7A5C"/>
                </a:solidFill>
              </a:defRPr>
            </a:pPr>
            <a:r>
              <a:t>Paie l'accès au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C"/>
                </a:solidFill>
              </a:defRPr>
            </a:pPr>
            <a:r>
              <a:t>60% du 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F1A"/>
                </a:solidFill>
              </a:defRPr>
            </a:pPr>
            <a:r>
              <a:t>Commission marketplace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2-5% par transaction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C"/>
                </a:solidFill>
              </a:defRPr>
            </a:pPr>
            <a:r>
              <a:t>30% du 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F1A"/>
                </a:solidFill>
              </a:defRPr>
            </a:pPr>
            <a:r>
              <a:t>Scoring-as-a-Service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150-500K FCFA/mois par SFD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A5C"/>
                </a:solidFill>
              </a:defRPr>
            </a:pPr>
            <a:r>
              <a:t>10% du 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F1A"/>
                </a:solidFill>
              </a:defRPr>
            </a:pPr>
            <a:r>
              <a:t>Services à valeur ajoutée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Commission 5-15%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Point mort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1A"/>
                </a:solidFill>
              </a:defRPr>
            </a:pPr>
            <a:r>
              <a:t>100 agri + 3 SFD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Coût marginal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1A"/>
                </a:solidFill>
              </a:defRPr>
            </a:pPr>
            <a:r>
              <a:t>~0 FCFA/agri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1A"/>
                </a:solidFill>
              </a:defRPr>
            </a:pPr>
            <a:r>
              <a:t>60M × 8 pays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Projection an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1A"/>
                </a:solidFill>
              </a:defRPr>
            </a:pPr>
            <a:r>
              <a:t>5 000 utilisateurs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C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F1A"/>
                </a:solidFill>
              </a:defRPr>
            </a:pPr>
            <a:r>
              <a:t>Des résultats concrets et mesurables.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7A5C"/>
                </a:solidFill>
              </a:defRPr>
            </a:pPr>
            <a:r>
              <a:t>65%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deviennent bancables</a:t>
            </a:r>
            <a:br/>
            <a:r>
              <a:t>en 90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7A5C"/>
                </a:solidFill>
              </a:defRPr>
            </a:pPr>
            <a:r>
              <a:t>-80%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coût d'évaluation</a:t>
            </a:r>
            <a:br/>
            <a:r>
              <a:t>pour les SFD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7A5C"/>
                </a:solidFill>
              </a:defRPr>
            </a:pPr>
            <a:r>
              <a:t>90j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pour obtenir son</a:t>
            </a:r>
            <a:br/>
            <a:r>
              <a:t>premier crédit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7A5C"/>
                </a:solidFill>
              </a:defRPr>
            </a:pPr>
            <a:r>
              <a:t>×5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plus d'agriculteurs</a:t>
            </a:r>
            <a:br/>
            <a:r>
              <a:t>financés par SFD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F1A"/>
                </a:solidFill>
              </a:defRPr>
            </a:pPr>
            <a:r>
              <a:t>• 40% femmes agricultrices ciblées — le scoring élimine les biais de genre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F1A"/>
                </a:solidFill>
              </a:defRPr>
            </a:pPr>
            <a:r>
              <a:t>• Crédit sans garantie foncière — la preuve d'activité suffit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F1A"/>
                </a:solidFill>
              </a:defRPr>
            </a:pPr>
            <a:r>
              <a:t>• Souveraineté des données — l'agriculteur contrôle son dossier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A5C"/>
                </a:solidFill>
              </a:defRPr>
            </a:pPr>
            <a:r>
              <a:t>SCALABILITÉ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F1A"/>
                </a:solidFill>
              </a:defRPr>
            </a:pPr>
            <a:r>
              <a:t>Un scoring pour 8 pays. 60 millions d'agriculteurs.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1A"/>
                </a:solidFill>
              </a:defRPr>
            </a:pPr>
            <a:r>
              <a:t>🚀 Sénégal (pilote)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○ Côte d'Ivoire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○ Mali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○ Burkina Faso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○ Bénin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○ Niger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○ Togo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○ Guinée-Bissau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Infrastructure 100% cloud • Partenariats GIM-UEMOA • Déploiement progressif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Ce n'est pas un prototype.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7A5C"/>
                </a:solidFill>
              </a:defRPr>
            </a:pPr>
            <a:r>
              <a:t>C'est un produit fonctionnel.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D0C0"/>
                </a:solidFill>
              </a:defRPr>
            </a:pPr>
            <a:r>
              <a:t>Testez le scoring en conditions réelles maintenant.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FresCoop — De l'invisible au finançable.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