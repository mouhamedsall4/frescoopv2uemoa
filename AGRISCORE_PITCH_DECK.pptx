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Revenus</c:v>
                </c:pt>
              </c:strCache>
            </c:strRef>
          </c:tx>
          <c:spPr>
            <a:solidFill>
              <a:srgbClr val="064E3B"/>
            </a:solidFill>
          </c:spPr>
          <c:cat>
            <c:strRef>
              <c:f>Sheet1!$A$2:$A$4</c:f>
              <c:strCache>
                <c:ptCount val="3"/>
                <c:pt idx="0">
                  <c:v>Annee 1
(Pilote)</c:v>
                </c:pt>
                <c:pt idx="1">
                  <c:v>Annee 2
(Croissance)</c:v>
                </c:pt>
                <c:pt idx="2">
                  <c:v>Annee 3
(Echelle)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46</c:v>
                </c:pt>
                <c:pt idx="1">
                  <c:v>201</c:v>
                </c:pt>
                <c:pt idx="2">
                  <c:v>480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Couts</c:v>
                </c:pt>
              </c:strCache>
            </c:strRef>
          </c:tx>
          <c:spPr>
            <a:solidFill>
              <a:srgbClr val="E5E7EB"/>
            </a:solidFill>
          </c:spPr>
          <c:cat>
            <c:strRef>
              <c:f>Sheet1!$A$2:$A$4</c:f>
              <c:strCache>
                <c:ptCount val="3"/>
                <c:pt idx="0">
                  <c:v>Annee 1
(Pilote)</c:v>
                </c:pt>
                <c:pt idx="1">
                  <c:v>Annee 2
(Croissance)</c:v>
                </c:pt>
                <c:pt idx="2">
                  <c:v>Annee 3
(Echelle)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46</c:v>
                </c:pt>
                <c:pt idx="1">
                  <c:v>149</c:v>
                </c:pt>
                <c:pt idx="2">
                  <c:v>282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64E3B"/>
            </a:gs>
            <a:gs pos="100000">
              <a:srgbClr val="0F766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0" y="1097280"/>
            <a:ext cx="3931920" cy="457200"/>
          </a:xfrm>
          <a:prstGeom prst="roundRect">
            <a:avLst/>
          </a:prstGeom>
          <a:solidFill>
            <a:srgbClr val="13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FFFFFF"/>
                </a:solidFill>
                <a:latin typeface="Segoe UI"/>
              </a:defRPr>
            </a:pPr>
            <a:r>
              <a:t>HACKATHON FILIERES AGRICOLES GIM-UEMOA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1031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Segoe UI"/>
              </a:defRPr>
            </a:pPr>
            <a:r>
              <a:t>AgriScore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2918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1FAE5"/>
                </a:solidFill>
                <a:latin typeface="Segoe UI"/>
              </a:defRPr>
            </a:pPr>
            <a:r>
              <a:t>Transformer les realites terrain en preuves bancables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114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7F3D0"/>
                </a:solidFill>
                <a:latin typeface="Segoe UI"/>
              </a:defRPr>
            </a:pPr>
            <a:r>
              <a:t>Solution de scoring credit agricole contextualise</a:t>
            </a:r>
            <a:br/>
            <a:r>
              <a:t>pour debloquer l'acces au financement des agriculteurs UEMOA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5760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E7B7"/>
                </a:solidFill>
                <a:latin typeface="Segoe UI"/>
              </a:defRPr>
            </a:pPr>
            <a:r>
              <a:t>Friction 4 : Acces limite aux financements agricoles  |  Equipe FresCoop  |  Mai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766E"/>
                </a:solidFill>
                <a:latin typeface="Segoe UI"/>
              </a:defRPr>
            </a:pPr>
            <a:r>
              <a:t>LE PROBLEME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Segoe UI"/>
              </a:defRPr>
            </a:pPr>
            <a:r>
              <a:t>80% des agriculteurs UEMOA sont exclus du credit.</a:t>
            </a:r>
            <a:br/>
            <a:r>
              <a:t>Pas parce qu'ils sont risques — parce que leur credibilite n'est pas documentee.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377440" cy="1371600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80%</a:t>
            </a:r>
          </a:p>
          <a:p>
            <a:pPr algn="ctr">
              <a:defRPr sz="1000">
                <a:solidFill>
                  <a:srgbClr val="D1FAE5"/>
                </a:solidFill>
                <a:latin typeface="Segoe UI"/>
              </a:defRPr>
            </a:pPr>
            <a:r>
              <a:t>Agriculteurs exclus</a:t>
            </a:r>
            <a:br/>
            <a:r>
              <a:t>du credit formel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2011680"/>
            <a:ext cx="2377440" cy="13716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3%</a:t>
            </a:r>
          </a:p>
          <a:p>
            <a:pPr algn="ctr">
              <a:defRPr sz="1000">
                <a:solidFill>
                  <a:srgbClr val="D1FAE5"/>
                </a:solidFill>
                <a:latin typeface="Segoe UI"/>
              </a:defRPr>
            </a:pPr>
            <a:r>
              <a:t>Credit bancaire vers</a:t>
            </a:r>
            <a:br/>
            <a:r>
              <a:t>l'agriculture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2011680"/>
            <a:ext cx="2377440" cy="1371600"/>
          </a:xfrm>
          <a:prstGeom prst="roundRect">
            <a:avLst/>
          </a:prstGeom>
          <a:solidFill>
            <a:srgbClr val="258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60M</a:t>
            </a:r>
          </a:p>
          <a:p>
            <a:pPr algn="ctr">
              <a:defRPr sz="1000">
                <a:solidFill>
                  <a:srgbClr val="D1FAE5"/>
                </a:solidFill>
                <a:latin typeface="Segoe UI"/>
              </a:defRPr>
            </a:pPr>
            <a:r>
              <a:t>Exploitants agricoles</a:t>
            </a:r>
            <a:br/>
            <a:r>
              <a:t>dans l'espace UEMOA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2011680"/>
            <a:ext cx="2377440" cy="1371600"/>
          </a:xfrm>
          <a:prstGeom prst="roundRect">
            <a:avLst/>
          </a:prstGeom>
          <a:solidFill>
            <a:srgbClr val="D99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$2.5Mds</a:t>
            </a:r>
          </a:p>
          <a:p>
            <a:pPr algn="ctr">
              <a:defRPr sz="1000">
                <a:solidFill>
                  <a:srgbClr val="D1FAE5"/>
                </a:solidFill>
                <a:latin typeface="Segoe UI"/>
              </a:defRPr>
            </a:pPr>
            <a:r>
              <a:t>Gap de financement</a:t>
            </a:r>
            <a:br/>
            <a:r>
              <a:t>agricole Afrique Ouest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24"/>
              </a:spcAft>
              <a:defRPr sz="1300" b="1">
                <a:solidFill>
                  <a:srgbClr val="1A1A1A"/>
                </a:solidFill>
                <a:latin typeface="Segoe UI"/>
              </a:defRPr>
            </a:pPr>
            <a:r>
              <a:t>Pourquoi ce probleme persiste :</a:t>
            </a:r>
          </a:p>
          <a:p>
            <a:pPr>
              <a:spcAft>
                <a:spcPts val="624"/>
              </a:spcAft>
              <a:defRPr sz="1300">
                <a:solidFill>
                  <a:srgbClr val="1A1A1A"/>
                </a:solidFill>
                <a:latin typeface="Segoe UI"/>
              </a:defRPr>
            </a:pPr>
          </a:p>
          <a:p>
            <a:pPr>
              <a:spcAft>
                <a:spcPts val="624"/>
              </a:spcAft>
              <a:defRPr sz="1300">
                <a:solidFill>
                  <a:srgbClr val="1A1A1A"/>
                </a:solidFill>
                <a:latin typeface="Segoe UI"/>
              </a:defRPr>
            </a:pPr>
            <a:r>
              <a:t>   Les banques n'ont aucune donnee fiable sur les agriculteurs</a:t>
            </a:r>
          </a:p>
          <a:p>
            <a:pPr>
              <a:spcAft>
                <a:spcPts val="624"/>
              </a:spcAft>
              <a:defRPr sz="1300">
                <a:solidFill>
                  <a:srgbClr val="1A1A1A"/>
                </a:solidFill>
                <a:latin typeface="Segoe UI"/>
              </a:defRPr>
            </a:pPr>
            <a:r>
              <a:t>   Les ventes existent mais sont informelles et non tracees</a:t>
            </a:r>
          </a:p>
          <a:p>
            <a:pPr>
              <a:spcAft>
                <a:spcPts val="624"/>
              </a:spcAft>
              <a:defRPr sz="1300">
                <a:solidFill>
                  <a:srgbClr val="1A1A1A"/>
                </a:solidFill>
                <a:latin typeface="Segoe UI"/>
              </a:defRPr>
            </a:pPr>
            <a:r>
              <a:t>   Le titre foncier formel exclut 70% des producteurs</a:t>
            </a:r>
          </a:p>
          <a:p>
            <a:pPr>
              <a:spcAft>
                <a:spcPts val="624"/>
              </a:spcAft>
              <a:defRPr sz="1300">
                <a:solidFill>
                  <a:srgbClr val="1A1A1A"/>
                </a:solidFill>
                <a:latin typeface="Segoe UI"/>
              </a:defRPr>
            </a:pPr>
            <a:r>
              <a:t>   Les agriculteurs productifs remboursent deja (tontines, prets informels)</a:t>
            </a:r>
          </a:p>
          <a:p>
            <a:pPr>
              <a:spcAft>
                <a:spcPts val="624"/>
              </a:spcAft>
              <a:defRPr sz="1300">
                <a:solidFill>
                  <a:srgbClr val="1A1A1A"/>
                </a:solidFill>
                <a:latin typeface="Segoe UI"/>
              </a:defRPr>
            </a:pPr>
            <a:r>
              <a:t>   Mais cette credibilite n'est documentee nulle part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766E"/>
                </a:solidFill>
                <a:latin typeface="Segoe UI"/>
              </a:defRPr>
            </a:pPr>
            <a:r>
              <a:t>NOTRE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  <a:latin typeface="Segoe UI"/>
              </a:defRPr>
            </a:pPr>
            <a:r>
              <a:t>AgriScore : du terrain au dossier bancaire en 5 etapes</a:t>
            </a:r>
          </a:p>
        </p:txBody>
      </p:sp>
      <p:sp>
        <p:nvSpPr>
          <p:cNvPr id="4" name="Oval 3"/>
          <p:cNvSpPr/>
          <p:nvPr/>
        </p:nvSpPr>
        <p:spPr>
          <a:xfrm>
            <a:off x="1234440" y="1645920"/>
            <a:ext cx="548640" cy="54864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4E3B"/>
                </a:solidFill>
                <a:latin typeface="Segoe UI"/>
              </a:defRPr>
            </a:pPr>
            <a:r>
              <a:t>Collecte</a:t>
            </a:r>
            <a:br/>
            <a:r>
              <a:t>assistee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108960"/>
            <a:ext cx="2103120" cy="164592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A1A1A"/>
                </a:solidFill>
                <a:latin typeface="Segoe UI"/>
              </a:defRPr>
            </a:pPr>
            <a:r>
              <a:t>Agent terrain</a:t>
            </a:r>
            <a:br/>
            <a:r>
              <a:t>Langue locale</a:t>
            </a:r>
            <a:br/>
            <a:r>
              <a:t>Temoin + consentement</a:t>
            </a:r>
          </a:p>
        </p:txBody>
      </p:sp>
      <p:sp>
        <p:nvSpPr>
          <p:cNvPr id="7" name="Oval 6"/>
          <p:cNvSpPr/>
          <p:nvPr/>
        </p:nvSpPr>
        <p:spPr>
          <a:xfrm>
            <a:off x="3520440" y="1645920"/>
            <a:ext cx="548640" cy="54864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3774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4E3B"/>
                </a:solidFill>
                <a:latin typeface="Segoe UI"/>
              </a:defRPr>
            </a:pPr>
            <a:r>
              <a:t>Score</a:t>
            </a:r>
            <a:br/>
            <a:r>
              <a:t>contextualise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3108960"/>
            <a:ext cx="2103120" cy="164592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A1A1A"/>
                </a:solidFill>
                <a:latin typeface="Segoe UI"/>
              </a:defRPr>
            </a:pPr>
            <a:r>
              <a:t>13 criteres</a:t>
            </a:r>
            <a:br/>
            <a:r>
              <a:t>Foncier coutumier</a:t>
            </a:r>
            <a:br/>
            <a:r>
              <a:t>Tontine, Mobile Money</a:t>
            </a:r>
          </a:p>
        </p:txBody>
      </p:sp>
      <p:sp>
        <p:nvSpPr>
          <p:cNvPr id="10" name="Oval 9"/>
          <p:cNvSpPr/>
          <p:nvPr/>
        </p:nvSpPr>
        <p:spPr>
          <a:xfrm>
            <a:off x="5806440" y="1645920"/>
            <a:ext cx="548640" cy="54864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3774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4E3B"/>
                </a:solidFill>
                <a:latin typeface="Segoe UI"/>
              </a:defRPr>
            </a:pPr>
            <a:r>
              <a:t>Dossier</a:t>
            </a:r>
            <a:br/>
            <a:r>
              <a:t>verifiable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3108960"/>
            <a:ext cx="2103120" cy="164592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A1A1A"/>
                </a:solidFill>
                <a:latin typeface="Segoe UI"/>
              </a:defRPr>
            </a:pPr>
            <a:r>
              <a:t>PDF + QR code</a:t>
            </a:r>
            <a:br/>
            <a:r>
              <a:t>Preuves tracees</a:t>
            </a:r>
            <a:br/>
            <a:r>
              <a:t>Code verification</a:t>
            </a:r>
          </a:p>
        </p:txBody>
      </p:sp>
      <p:sp>
        <p:nvSpPr>
          <p:cNvPr id="13" name="Oval 12"/>
          <p:cNvSpPr/>
          <p:nvPr/>
        </p:nvSpPr>
        <p:spPr>
          <a:xfrm>
            <a:off x="8092440" y="1645920"/>
            <a:ext cx="548640" cy="54864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3774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4E3B"/>
                </a:solidFill>
                <a:latin typeface="Segoe UI"/>
              </a:defRPr>
            </a:pPr>
            <a:r>
              <a:t>Calendrier</a:t>
            </a:r>
            <a:br/>
            <a:r>
              <a:t>saisonnier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3108960"/>
            <a:ext cx="2103120" cy="164592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A1A1A"/>
                </a:solidFill>
                <a:latin typeface="Segoe UI"/>
              </a:defRPr>
            </a:pPr>
            <a:r>
              <a:t>Remboursement aligne</a:t>
            </a:r>
            <a:br/>
            <a:r>
              <a:t>sur cycles recolte</a:t>
            </a:r>
            <a:br/>
            <a:r>
              <a:t>et periodes vente</a:t>
            </a:r>
          </a:p>
        </p:txBody>
      </p:sp>
      <p:sp>
        <p:nvSpPr>
          <p:cNvPr id="16" name="Oval 15"/>
          <p:cNvSpPr/>
          <p:nvPr/>
        </p:nvSpPr>
        <p:spPr>
          <a:xfrm>
            <a:off x="10378440" y="1645920"/>
            <a:ext cx="548640" cy="54864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3774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4E3B"/>
                </a:solidFill>
                <a:latin typeface="Segoe UI"/>
              </a:defRPr>
            </a:pPr>
            <a:r>
              <a:t>Boucle</a:t>
            </a:r>
            <a:br/>
            <a:r>
              <a:t>post-credit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3108960"/>
            <a:ext cx="2103120" cy="164592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A1A1A"/>
                </a:solidFill>
                <a:latin typeface="Segoe UI"/>
              </a:defRPr>
            </a:pPr>
            <a:r>
              <a:t>Suivi remboursement</a:t>
            </a:r>
            <a:br/>
            <a:r>
              <a:t>Historique evolutif</a:t>
            </a:r>
            <a:br/>
            <a:r>
              <a:t>Score qui progresse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120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766E"/>
                </a:solidFill>
                <a:latin typeface="Segoe UI"/>
              </a:defRPr>
            </a:pPr>
            <a:r>
              <a:t>AGRICULTEUR  ───────&gt;  AGENT TERRAIN  ───────&gt;  AGRISCORE  ───────&gt;  BANQUE / IMF  ───────&gt;  CREDIT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5669280"/>
            <a:ext cx="8229600" cy="731520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FFFFF"/>
                </a:solidFill>
                <a:latin typeface="Segoe UI"/>
              </a:defRPr>
            </a:pPr>
            <a:r>
              <a:t>L'agriculteur ne s'inscrit pas seul sur une app. Il est accompagne par un agent de confiance, dans sa langue.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766E"/>
                </a:solidFill>
                <a:latin typeface="Segoe UI"/>
              </a:defRPr>
            </a:pPr>
            <a:r>
              <a:t>SCORING CONTEXTUALISE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Segoe UI"/>
              </a:defRPr>
            </a:pPr>
            <a:r>
              <a:t>13 criteres adaptes a la realite agricole africaine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4E3B"/>
                </a:solidFill>
                <a:latin typeface="Segoe UI"/>
              </a:defRPr>
            </a:pPr>
            <a:r>
              <a:t>AgriScore (notre approche)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A1A1A"/>
                </a:solidFill>
                <a:latin typeface="Segoe UI"/>
              </a:defRPr>
            </a:pPr>
            <a:r>
              <a:t>  Anciennete du compte agriculteur</a:t>
            </a:r>
          </a:p>
          <a:p>
            <a:pPr>
              <a:spcAft>
                <a:spcPts val="600"/>
              </a:spcAft>
              <a:defRPr sz="1100">
                <a:solidFill>
                  <a:srgbClr val="1A1A1A"/>
                </a:solidFill>
                <a:latin typeface="Segoe UI"/>
              </a:defRPr>
            </a:pPr>
            <a:r>
              <a:t>  Transactions verifiees (ventes reelles)</a:t>
            </a:r>
          </a:p>
          <a:p>
            <a:pPr>
              <a:spcAft>
                <a:spcPts val="600"/>
              </a:spcAft>
              <a:defRPr sz="1100">
                <a:solidFill>
                  <a:srgbClr val="1A1A1A"/>
                </a:solidFill>
                <a:latin typeface="Segoe UI"/>
              </a:defRPr>
            </a:pPr>
            <a:r>
              <a:t>  Paiements Mobile Money (Wave, Orange)</a:t>
            </a:r>
          </a:p>
          <a:p>
            <a:pPr>
              <a:spcAft>
                <a:spcPts val="600"/>
              </a:spcAft>
              <a:defRPr sz="1100">
                <a:solidFill>
                  <a:srgbClr val="1A1A1A"/>
                </a:solidFill>
                <a:latin typeface="Segoe UI"/>
              </a:defRPr>
            </a:pPr>
            <a:r>
              <a:t>  Lots traces avec capteurs IoT</a:t>
            </a:r>
          </a:p>
          <a:p>
            <a:pPr>
              <a:spcAft>
                <a:spcPts val="600"/>
              </a:spcAft>
              <a:defRPr sz="1100">
                <a:solidFill>
                  <a:srgbClr val="1A1A1A"/>
                </a:solidFill>
                <a:latin typeface="Segoe UI"/>
              </a:defRPr>
            </a:pPr>
            <a:r>
              <a:t>  Attestations de cooperatives</a:t>
            </a:r>
          </a:p>
          <a:p>
            <a:pPr>
              <a:spcAft>
                <a:spcPts val="600"/>
              </a:spcAft>
              <a:defRPr sz="1100">
                <a:solidFill>
                  <a:srgbClr val="1A1A1A"/>
                </a:solidFill>
                <a:latin typeface="Segoe UI"/>
              </a:defRPr>
            </a:pPr>
            <a:r>
              <a:t>  Preuves economiques documentees</a:t>
            </a:r>
          </a:p>
          <a:p>
            <a:pPr>
              <a:spcAft>
                <a:spcPts val="600"/>
              </a:spcAft>
              <a:defRPr sz="1100">
                <a:solidFill>
                  <a:srgbClr val="1A1A1A"/>
                </a:solidFill>
                <a:latin typeface="Segoe UI"/>
              </a:defRPr>
            </a:pPr>
            <a:r>
              <a:t>  Revenu mensuel moyen calcule</a:t>
            </a:r>
          </a:p>
          <a:p>
            <a:pPr>
              <a:spcAft>
                <a:spcPts val="600"/>
              </a:spcAft>
              <a:defRPr sz="1100">
                <a:solidFill>
                  <a:srgbClr val="1A1A1A"/>
                </a:solidFill>
                <a:latin typeface="Segoe UI"/>
              </a:defRPr>
            </a:pPr>
            <a:r>
              <a:t>  Groupement / GIE / Cooperative</a:t>
            </a:r>
          </a:p>
          <a:p>
            <a:pPr>
              <a:spcAft>
                <a:spcPts val="600"/>
              </a:spcAft>
              <a:defRPr sz="1100">
                <a:solidFill>
                  <a:srgbClr val="1A1A1A"/>
                </a:solidFill>
                <a:latin typeface="Segoe UI"/>
              </a:defRPr>
            </a:pPr>
            <a:r>
              <a:t>  Foncier (formel OU coutumier)</a:t>
            </a:r>
          </a:p>
          <a:p>
            <a:pPr>
              <a:spcAft>
                <a:spcPts val="600"/>
              </a:spcAft>
              <a:defRPr sz="1100">
                <a:solidFill>
                  <a:srgbClr val="1A1A1A"/>
                </a:solidFill>
                <a:latin typeface="Segoe UI"/>
              </a:defRPr>
            </a:pPr>
            <a:r>
              <a:t>  Experience agricole (annees)</a:t>
            </a:r>
          </a:p>
          <a:p>
            <a:pPr>
              <a:spcAft>
                <a:spcPts val="600"/>
              </a:spcAft>
              <a:defRPr sz="1100">
                <a:solidFill>
                  <a:srgbClr val="1A1A1A"/>
                </a:solidFill>
                <a:latin typeface="Segoe UI"/>
              </a:defRPr>
            </a:pPr>
            <a:r>
              <a:t>  Mobile Money actif</a:t>
            </a:r>
          </a:p>
          <a:p>
            <a:pPr>
              <a:spcAft>
                <a:spcPts val="600"/>
              </a:spcAft>
              <a:defRPr sz="1100">
                <a:solidFill>
                  <a:srgbClr val="1A1A1A"/>
                </a:solidFill>
                <a:latin typeface="Segoe UI"/>
              </a:defRPr>
            </a:pPr>
            <a:r>
              <a:t>  Tontine / epargne informelle</a:t>
            </a:r>
          </a:p>
          <a:p>
            <a:pPr>
              <a:spcAft>
                <a:spcPts val="600"/>
              </a:spcAft>
              <a:defRPr sz="1100">
                <a:solidFill>
                  <a:srgbClr val="1A1A1A"/>
                </a:solidFill>
                <a:latin typeface="Segoe UI"/>
              </a:defRPr>
            </a:pPr>
            <a:r>
              <a:t>  Historique de remboursement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Segoe UI"/>
              </a:defRPr>
            </a:pPr>
            <a:r>
              <a:t>Scoring bancaire classique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6B7280"/>
                </a:solidFill>
                <a:latin typeface="Segoe UI"/>
              </a:defRPr>
            </a:pPr>
            <a:r>
              <a:t>  Titre foncier formel obligatoire</a:t>
            </a:r>
          </a:p>
          <a:p>
            <a:pPr>
              <a:spcAft>
                <a:spcPts val="600"/>
              </a:spcAft>
              <a:defRPr sz="1100">
                <a:solidFill>
                  <a:srgbClr val="6B7280"/>
                </a:solidFill>
                <a:latin typeface="Segoe UI"/>
              </a:defRPr>
            </a:pPr>
            <a:r>
              <a:t>  Bulletin de salaire requis</a:t>
            </a:r>
          </a:p>
          <a:p>
            <a:pPr>
              <a:spcAft>
                <a:spcPts val="600"/>
              </a:spcAft>
              <a:defRPr sz="1100">
                <a:solidFill>
                  <a:srgbClr val="6B7280"/>
                </a:solidFill>
                <a:latin typeface="Segoe UI"/>
              </a:defRPr>
            </a:pPr>
            <a:r>
              <a:t>  Historique bancaire (compte courant)</a:t>
            </a:r>
          </a:p>
          <a:p>
            <a:pPr>
              <a:spcAft>
                <a:spcPts val="600"/>
              </a:spcAft>
              <a:defRPr sz="1100">
                <a:solidFill>
                  <a:srgbClr val="6B7280"/>
                </a:solidFill>
                <a:latin typeface="Segoe UI"/>
              </a:defRPr>
            </a:pPr>
            <a:r>
              <a:t>  Garanties immobilieres</a:t>
            </a:r>
          </a:p>
          <a:p>
            <a:pPr>
              <a:spcAft>
                <a:spcPts val="600"/>
              </a:spcAft>
              <a:defRPr sz="1100">
                <a:solidFill>
                  <a:srgbClr val="6B7280"/>
                </a:solidFill>
                <a:latin typeface="Segoe UI"/>
              </a:defRPr>
            </a:pPr>
            <a:r>
              <a:t>  Pas de prise en compte du coutumier</a:t>
            </a:r>
          </a:p>
          <a:p>
            <a:pPr>
              <a:spcAft>
                <a:spcPts val="600"/>
              </a:spcAft>
              <a:defRPr sz="1100">
                <a:solidFill>
                  <a:srgbClr val="6B7280"/>
                </a:solidFill>
                <a:latin typeface="Segoe UI"/>
              </a:defRPr>
            </a:pPr>
            <a:r>
              <a:t>  Pas de donnees de production</a:t>
            </a:r>
          </a:p>
          <a:p>
            <a:pPr>
              <a:spcAft>
                <a:spcPts val="600"/>
              </a:spcAft>
              <a:defRPr sz="1100">
                <a:solidFill>
                  <a:srgbClr val="6B7280"/>
                </a:solidFill>
                <a:latin typeface="Segoe UI"/>
              </a:defRPr>
            </a:pPr>
            <a:r>
              <a:t>  Pas de preuves informelles</a:t>
            </a:r>
          </a:p>
          <a:p>
            <a:pPr>
              <a:spcAft>
                <a:spcPts val="600"/>
              </a:spcAft>
              <a:defRPr sz="1100">
                <a:solidFill>
                  <a:srgbClr val="6B7280"/>
                </a:solidFill>
                <a:latin typeface="Segoe UI"/>
              </a:defRPr>
            </a:pPr>
            <a:r>
              <a:t>  Exclut 80% des agriculteurs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5303520"/>
            <a:ext cx="5029200" cy="10972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EF4444"/>
                </a:solidFill>
                <a:latin typeface="Segoe UI"/>
              </a:defRPr>
            </a:pPr>
            <a:r>
              <a:t>Resultat : 80% des agriculteurs</a:t>
            </a:r>
            <a:br/>
            <a:r>
              <a:t>exclus du systeme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03520"/>
            <a:ext cx="5029200" cy="109728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064E3B"/>
                </a:solidFill>
                <a:latin typeface="Segoe UI"/>
              </a:defRPr>
            </a:pPr>
            <a:r>
              <a:t>Resultat : scoring inclusif</a:t>
            </a:r>
            <a:br/>
            <a:r>
              <a:t>qui valorise les realites terrain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766E"/>
                </a:solidFill>
                <a:latin typeface="Segoe UI"/>
              </a:defRPr>
            </a:pPr>
            <a:r>
              <a:t>PARCOURS UTILISATEUR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Segoe UI"/>
              </a:defRPr>
            </a:pPr>
            <a:r>
              <a:t>De l'inscription au premier credit : le parcours reel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737360"/>
            <a:ext cx="411480" cy="41148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4E3B"/>
                </a:solidFill>
                <a:latin typeface="Segoe UI"/>
              </a:defRPr>
            </a:pPr>
            <a:r>
              <a:t>INSCRIPTION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1A"/>
                </a:solidFill>
                <a:latin typeface="Segoe UI"/>
              </a:defRPr>
            </a:pPr>
            <a:r>
              <a:t>L'agriculteur s'inscrit</a:t>
            </a:r>
            <a:br/>
            <a:r>
              <a:t>(ou l'agent l'inscrit)</a:t>
            </a:r>
            <a:br/>
            <a:r>
              <a:t>en 2 minutes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645920"/>
            <a:ext cx="3383280" cy="201168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1999" y="1737360"/>
            <a:ext cx="411480" cy="41148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39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4E3B"/>
                </a:solidFill>
                <a:latin typeface="Segoe UI"/>
              </a:defRPr>
            </a:pPr>
            <a:r>
              <a:t>COLLECTE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39" y="22860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1A"/>
                </a:solidFill>
                <a:latin typeface="Segoe UI"/>
              </a:defRPr>
            </a:pPr>
            <a:r>
              <a:t>L'agent collecte les</a:t>
            </a:r>
            <a:br/>
            <a:r>
              <a:t>donnees terrain en</a:t>
            </a:r>
            <a:br/>
            <a:r>
              <a:t>langue locale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645920"/>
            <a:ext cx="3383280" cy="201168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21040" y="1737360"/>
            <a:ext cx="411480" cy="41148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4E3B"/>
                </a:solidFill>
                <a:latin typeface="Segoe UI"/>
              </a:defRPr>
            </a:pPr>
            <a:r>
              <a:t>SCORING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860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1A"/>
                </a:solidFill>
                <a:latin typeface="Segoe UI"/>
              </a:defRPr>
            </a:pPr>
            <a:r>
              <a:t>Le score se calcule</a:t>
            </a:r>
            <a:br/>
            <a:r>
              <a:t>automatiquement</a:t>
            </a:r>
            <a:br/>
            <a:r>
              <a:t>(13 criteres)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3383280" cy="201168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4206240"/>
            <a:ext cx="411480" cy="41148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251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4E3B"/>
                </a:solidFill>
                <a:latin typeface="Segoe UI"/>
              </a:defRPr>
            </a:pPr>
            <a:r>
              <a:t>DOSSIER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5488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1A"/>
                </a:solidFill>
                <a:latin typeface="Segoe UI"/>
              </a:defRPr>
            </a:pPr>
            <a:r>
              <a:t>Un dossier bancaire</a:t>
            </a:r>
            <a:br/>
            <a:r>
              <a:t>PDF est genere avec</a:t>
            </a:r>
            <a:br/>
            <a:r>
              <a:t>QR de verification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59" y="4114800"/>
            <a:ext cx="3383280" cy="201168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71999" y="4206240"/>
            <a:ext cx="411480" cy="41148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39" y="4251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4E3B"/>
                </a:solidFill>
                <a:latin typeface="Segoe UI"/>
              </a:defRPr>
            </a:pPr>
            <a:r>
              <a:t>CREDIT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39" y="475488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1A"/>
                </a:solidFill>
                <a:latin typeface="Segoe UI"/>
              </a:defRPr>
            </a:pPr>
            <a:r>
              <a:t>L'IMF consulte le</a:t>
            </a:r>
            <a:br/>
            <a:r>
              <a:t>dossier et decide</a:t>
            </a:r>
            <a:br/>
            <a:r>
              <a:t>(5 min vs 3 semaines)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4114800"/>
            <a:ext cx="3383280" cy="201168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21040" y="4206240"/>
            <a:ext cx="411480" cy="41148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4251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4E3B"/>
                </a:solidFill>
                <a:latin typeface="Segoe UI"/>
              </a:defRPr>
            </a:pPr>
            <a:r>
              <a:t>SUIVI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75488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1A"/>
                </a:solidFill>
                <a:latin typeface="Segoe UI"/>
              </a:defRPr>
            </a:pPr>
            <a:r>
              <a:t>Remboursements suivis</a:t>
            </a:r>
            <a:br/>
            <a:r>
              <a:t>Le score evolue</a:t>
            </a:r>
            <a:br/>
            <a:r>
              <a:t>Historique construit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766E"/>
                </a:solidFill>
                <a:latin typeface="Segoe UI"/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Segoe UI"/>
              </a:defRPr>
            </a:pPr>
            <a:r>
              <a:t>L'agriculteur ne paie jamais. Les IMF paient pour des clients pre-qualifies.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651760" cy="2286000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45%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Dossiers qualifies</a:t>
            </a:r>
          </a:p>
          <a:p>
            <a:pPr>
              <a:defRPr sz="600"/>
            </a:pPr>
          </a:p>
          <a:p>
            <a:pPr algn="ctr">
              <a:defRPr sz="1000">
                <a:solidFill>
                  <a:srgbClr val="D1FAE5"/>
                </a:solidFill>
              </a:defRPr>
            </a:pPr>
            <a:r>
              <a:t>2 000 - 5 000 FCFA</a:t>
            </a:r>
            <a:br/>
            <a:r>
              <a:t>par dossier consulte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645920"/>
            <a:ext cx="2651760" cy="22860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30%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Abonnements IMF</a:t>
            </a:r>
          </a:p>
          <a:p>
            <a:pPr>
              <a:defRPr sz="600"/>
            </a:pPr>
          </a:p>
          <a:p>
            <a:pPr algn="ctr">
              <a:defRPr sz="1000">
                <a:solidFill>
                  <a:srgbClr val="D1FAE5"/>
                </a:solidFill>
              </a:defRPr>
            </a:pPr>
            <a:r>
              <a:t>500K - 2M FCFA/mois</a:t>
            </a:r>
            <a:br/>
            <a:r>
              <a:t>licence plateforme +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2651760" cy="2286000"/>
          </a:xfrm>
          <a:prstGeom prst="roundRect">
            <a:avLst/>
          </a:prstGeom>
          <a:solidFill>
            <a:srgbClr val="258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15%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Commission credit</a:t>
            </a:r>
          </a:p>
          <a:p>
            <a:pPr>
              <a:defRPr sz="600"/>
            </a:pPr>
          </a:p>
          <a:p>
            <a:pPr algn="ctr">
              <a:defRPr sz="1000">
                <a:solidFill>
                  <a:srgbClr val="D1FAE5"/>
                </a:solidFill>
              </a:defRPr>
            </a:pPr>
            <a:r>
              <a:t>1-2% du montant</a:t>
            </a:r>
            <a:br/>
            <a:r>
              <a:t>du pret debloque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1645920"/>
            <a:ext cx="2651760" cy="2286000"/>
          </a:xfrm>
          <a:prstGeom prst="roundRect">
            <a:avLst/>
          </a:prstGeom>
          <a:solidFill>
            <a:srgbClr val="D99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10%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Programmes</a:t>
            </a:r>
          </a:p>
          <a:p>
            <a:pPr>
              <a:defRPr sz="600"/>
            </a:pPr>
          </a:p>
          <a:p>
            <a:pPr algn="ctr">
              <a:defRPr sz="1000">
                <a:solidFill>
                  <a:srgbClr val="D1FAE5"/>
                </a:solidFill>
              </a:defRPr>
            </a:pPr>
            <a:r>
              <a:t>Contrats bailleurs</a:t>
            </a:r>
            <a:br/>
            <a:r>
              <a:t>et gouvernements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Segoe UI"/>
              </a:defRPr>
            </a:pPr>
            <a:r>
              <a:t>Projection de revenus (FCFA)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4663440"/>
          <a:ext cx="5486400" cy="2011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858000" y="4572000"/>
            <a:ext cx="2377440" cy="1371600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480M</a:t>
            </a:r>
          </a:p>
          <a:p>
            <a:pPr algn="ctr">
              <a:defRPr sz="1000">
                <a:solidFill>
                  <a:srgbClr val="D1FAE5"/>
                </a:solidFill>
                <a:latin typeface="Segoe UI"/>
              </a:defRPr>
            </a:pPr>
            <a:r>
              <a:t>Revenus Annee 3</a:t>
            </a:r>
            <a:br/>
            <a:r>
              <a:t>(FCFA)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0" y="4572000"/>
            <a:ext cx="2377440" cy="13716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41%</a:t>
            </a:r>
          </a:p>
          <a:p>
            <a:pPr algn="ctr">
              <a:defRPr sz="1000">
                <a:solidFill>
                  <a:srgbClr val="D1FAE5"/>
                </a:solidFill>
                <a:latin typeface="Segoe UI"/>
              </a:defRPr>
            </a:pPr>
            <a:r>
              <a:t>Marge nette</a:t>
            </a:r>
            <a:br/>
            <a:r>
              <a:t>Annee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6035040"/>
            <a:ext cx="2377440" cy="1371600"/>
          </a:xfrm>
          <a:prstGeom prst="roundRect">
            <a:avLst/>
          </a:prstGeom>
          <a:solidFill>
            <a:srgbClr val="258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x10</a:t>
            </a:r>
          </a:p>
          <a:p>
            <a:pPr algn="ctr">
              <a:defRPr sz="1000">
                <a:solidFill>
                  <a:srgbClr val="D1FAE5"/>
                </a:solidFill>
                <a:latin typeface="Segoe UI"/>
              </a:defRPr>
            </a:pPr>
            <a:r>
              <a:t>Croissance</a:t>
            </a:r>
            <a:br/>
            <a:r>
              <a:t>en 3 ans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0" y="6035040"/>
            <a:ext cx="2377440" cy="1371600"/>
          </a:xfrm>
          <a:prstGeom prst="roundRect">
            <a:avLst/>
          </a:prstGeom>
          <a:solidFill>
            <a:srgbClr val="D99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15M</a:t>
            </a:r>
          </a:p>
          <a:p>
            <a:pPr algn="ctr">
              <a:defRPr sz="1000">
                <a:solidFill>
                  <a:srgbClr val="D1FAE5"/>
                </a:solidFill>
                <a:latin typeface="Segoe UI"/>
              </a:defRPr>
            </a:pPr>
            <a:r>
              <a:t>Investissement</a:t>
            </a:r>
            <a:br/>
            <a:r>
              <a:t>initial (FCFA)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766E"/>
                </a:solidFill>
                <a:latin typeface="Segoe UI"/>
              </a:defRPr>
            </a:pPr>
            <a:r>
              <a:t>OPPORTUNITE DE MARCHE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Segoe UI"/>
              </a:defRPr>
            </a:pPr>
            <a:r>
              <a:t>Un marche de $2.5 milliards en Afrique de l'Ouest</a:t>
            </a:r>
          </a:p>
        </p:txBody>
      </p:sp>
      <p:sp>
        <p:nvSpPr>
          <p:cNvPr id="4" name="Oval 3"/>
          <p:cNvSpPr/>
          <p:nvPr/>
        </p:nvSpPr>
        <p:spPr>
          <a:xfrm>
            <a:off x="1371600" y="1645920"/>
            <a:ext cx="4572000" cy="4572000"/>
          </a:xfrm>
          <a:prstGeom prst="ellipse">
            <a:avLst/>
          </a:prstGeom>
          <a:solidFill>
            <a:srgbClr val="D1FAE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>
                <a:solidFill>
                  <a:srgbClr val="0F766E"/>
                </a:solidFill>
              </a:defRPr>
            </a:pPr>
            <a:r>
              <a:t>TAM : $2.5 Mds</a:t>
            </a:r>
          </a:p>
        </p:txBody>
      </p:sp>
      <p:sp>
        <p:nvSpPr>
          <p:cNvPr id="5" name="Oval 4"/>
          <p:cNvSpPr/>
          <p:nvPr/>
        </p:nvSpPr>
        <p:spPr>
          <a:xfrm>
            <a:off x="2286000" y="2560320"/>
            <a:ext cx="2926080" cy="2926080"/>
          </a:xfrm>
          <a:prstGeom prst="ellipse">
            <a:avLst/>
          </a:prstGeom>
          <a:solidFill>
            <a:srgbClr val="A7F3D0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>
                <a:solidFill>
                  <a:srgbClr val="064E3B"/>
                </a:solidFill>
              </a:defRPr>
            </a:pPr>
            <a:r>
              <a:t>SAM : $450M</a:t>
            </a:r>
          </a:p>
        </p:txBody>
      </p:sp>
      <p:sp>
        <p:nvSpPr>
          <p:cNvPr id="6" name="Oval 5"/>
          <p:cNvSpPr/>
          <p:nvPr/>
        </p:nvSpPr>
        <p:spPr>
          <a:xfrm>
            <a:off x="2926080" y="3474720"/>
            <a:ext cx="1645920" cy="164592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SOM</a:t>
            </a:r>
            <a:br/>
            <a:r>
              <a:t>$12M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828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4E3B"/>
                </a:solidFill>
                <a:latin typeface="Segoe UI"/>
              </a:defRPr>
            </a:pPr>
            <a:r>
              <a:t>TAM — $2.5 Milliards/an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1945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Scoring credit agricole pour 60M</a:t>
            </a:r>
            <a:br/>
            <a:r>
              <a:t>d'exploitants en Afrique de l'Ouest (8 pays UEMOA)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383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4E3B"/>
                </a:solidFill>
                <a:latin typeface="Segoe UI"/>
              </a:defRPr>
            </a:pPr>
            <a:r>
              <a:t>SAM — $450 Millions/an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7490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Senegal + Mali + Cote d'Ivoire</a:t>
            </a:r>
            <a:br/>
            <a:r>
              <a:t>Filieres porteuses : riz, arachide, mangue, oignon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4937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4E3B"/>
                </a:solidFill>
                <a:latin typeface="Segoe UI"/>
              </a:defRPr>
            </a:pPr>
            <a:r>
              <a:t>SOM — $12 Millions/an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53035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Pilote Senegal : 3 regions, 5 000 agriculteurs,</a:t>
            </a:r>
            <a:br/>
            <a:r>
              <a:t>10 IMF partenaires (horizon 3 ans)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766E"/>
                </a:solidFill>
                <a:latin typeface="Segoe UI"/>
              </a:defRPr>
            </a:pPr>
            <a:r>
              <a:t>IMPACT SOCIAL &amp; ENVIRONNEMENTAL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Segoe UI"/>
              </a:defRPr>
            </a:pPr>
            <a:r>
              <a:t>Des resultats mesurables a 3 ans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377440" cy="1371600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25 000</a:t>
            </a:r>
          </a:p>
          <a:p>
            <a:pPr algn="ctr">
              <a:defRPr sz="1000">
                <a:solidFill>
                  <a:srgbClr val="D1FAE5"/>
                </a:solidFill>
                <a:latin typeface="Segoe UI"/>
              </a:defRPr>
            </a:pPr>
            <a:r>
              <a:t>Agriculteurs avec</a:t>
            </a:r>
            <a:br/>
            <a:r>
              <a:t>identite financiere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645920"/>
            <a:ext cx="2377440" cy="13716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$3.4M</a:t>
            </a:r>
          </a:p>
          <a:p>
            <a:pPr algn="ctr">
              <a:defRPr sz="1000">
                <a:solidFill>
                  <a:srgbClr val="D1FAE5"/>
                </a:solidFill>
                <a:latin typeface="Segoe UI"/>
              </a:defRPr>
            </a:pPr>
            <a:r>
              <a:t>Credits</a:t>
            </a:r>
            <a:br/>
            <a:r>
              <a:t>debloques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2377440" cy="1371600"/>
          </a:xfrm>
          <a:prstGeom prst="roundRect">
            <a:avLst/>
          </a:prstGeom>
          <a:solidFill>
            <a:srgbClr val="258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60%</a:t>
            </a:r>
          </a:p>
          <a:p>
            <a:pPr algn="ctr">
              <a:defRPr sz="1000">
                <a:solidFill>
                  <a:srgbClr val="D1FAE5"/>
                </a:solidFill>
                <a:latin typeface="Segoe UI"/>
              </a:defRPr>
            </a:pPr>
            <a:r>
              <a:t>Femmes</a:t>
            </a:r>
            <a:br/>
            <a:r>
              <a:t>beneficiaires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1645920"/>
            <a:ext cx="2377440" cy="1371600"/>
          </a:xfrm>
          <a:prstGeom prst="roundRect">
            <a:avLst/>
          </a:prstGeom>
          <a:solidFill>
            <a:srgbClr val="D99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-40%</a:t>
            </a:r>
          </a:p>
          <a:p>
            <a:pPr algn="ctr">
              <a:defRPr sz="1000">
                <a:solidFill>
                  <a:srgbClr val="D1FAE5"/>
                </a:solidFill>
                <a:latin typeface="Segoe UI"/>
              </a:defRPr>
            </a:pPr>
            <a:r>
              <a:t>Reduction taux</a:t>
            </a:r>
            <a:br/>
            <a:r>
              <a:t>de defaut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Segoe UI"/>
              </a:defRPr>
            </a:pPr>
            <a:r>
              <a:t>Alignement ODD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Segoe UI"/>
              </a:defRPr>
            </a:pPr>
            <a:r>
              <a:t>ODD 1 — Acces au credit pour les plus vulnerables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Segoe UI"/>
              </a:defRPr>
            </a:pPr>
            <a:r>
              <a:t>ODD 2 — Financement des intrants agricoles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Segoe UI"/>
              </a:defRPr>
            </a:pPr>
            <a:r>
              <a:t>ODD 5 — Scoring inclusif (GIE feminin, tontines)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Segoe UI"/>
              </a:defRPr>
            </a:pPr>
            <a:r>
              <a:t>ODD 8 — Formalisation de l'activite economique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Segoe UI"/>
              </a:defRPr>
            </a:pPr>
            <a:r>
              <a:t>ODD 10 — Inclusion financiere des ruraux exclus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Segoe UI"/>
              </a:defRPr>
            </a:pPr>
            <a:r>
              <a:t>Pourquoi ca fonctionne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8404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Segoe UI"/>
              </a:defRPr>
            </a:pPr>
            <a:r>
              <a:t>Agents existants (ANCAR, cooperatives)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Segoe UI"/>
              </a:defRPr>
            </a:pPr>
            <a:r>
              <a:t>Donnees deja la (tontines, Mobile Money, ventes)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Segoe UI"/>
              </a:defRPr>
            </a:pPr>
            <a:r>
              <a:t>USSD pour les 70% sans smartphone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Segoe UI"/>
              </a:defRPr>
            </a:pPr>
            <a:r>
              <a:t>Consentement en langue locale + temoin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Segoe UI"/>
              </a:defRPr>
            </a:pPr>
            <a:r>
              <a:t>Scoring inclusif : pas besoin de titre foncier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Segoe UI"/>
              </a:defRPr>
            </a:pPr>
            <a:r>
              <a:t>Boucle post-credit : le score s'ameliore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766E"/>
                </a:solidFill>
                <a:latin typeface="Segoe UI"/>
              </a:defRPr>
            </a:pPr>
            <a:r>
              <a:t>CREDIBILITE &amp; ANTI-FRAUDE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Segoe UI"/>
              </a:defRPr>
            </a:pPr>
            <a:r>
              <a:t>Les 5 risques critiques securises dans le prototype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00400" cy="822960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Score trop binaire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766E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554480"/>
            <a:ext cx="6675120" cy="82296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A1A1A"/>
                </a:solidFill>
                <a:latin typeface="Segoe UI"/>
              </a:defRPr>
            </a:pPr>
            <a:r>
              <a:t>Preuves alternatives : droit coutumier,</a:t>
            </a:r>
            <a:br/>
            <a:r>
              <a:t>GIE, tontine, validation communautaire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3200400" cy="8229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Consentement insuffisant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766E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2560320"/>
            <a:ext cx="6675120" cy="82296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A1A1A"/>
                </a:solidFill>
                <a:latin typeface="Segoe UI"/>
              </a:defRPr>
            </a:pPr>
            <a:r>
              <a:t>Langue locale, lecture orale par agent,</a:t>
            </a:r>
            <a:br/>
            <a:r>
              <a:t>presence temoin, trace audit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66160"/>
            <a:ext cx="3200400" cy="822960"/>
          </a:xfrm>
          <a:prstGeom prst="roundRect">
            <a:avLst/>
          </a:prstGeom>
          <a:solidFill>
            <a:srgbClr val="258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Fraude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749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766E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3566160"/>
            <a:ext cx="6675120" cy="82296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A1A1A"/>
                </a:solidFill>
                <a:latin typeface="Segoe UI"/>
              </a:defRPr>
            </a:pPr>
            <a:r>
              <a:t>Score fiabilite agent, croisement donnees,</a:t>
            </a:r>
            <a:br/>
            <a:r>
              <a:t>taux coherence, historique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72000"/>
            <a:ext cx="3200400" cy="822960"/>
          </a:xfrm>
          <a:prstGeom prst="roundRect">
            <a:avLst/>
          </a:prstGeom>
          <a:solidFill>
            <a:srgbClr val="D99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Credit non adapte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754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766E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4572000"/>
            <a:ext cx="6675120" cy="82296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A1A1A"/>
                </a:solidFill>
                <a:latin typeface="Segoe UI"/>
              </a:defRPr>
            </a:pPr>
            <a:r>
              <a:t>Recommandation calendrier saisonnier</a:t>
            </a:r>
            <a:br/>
            <a:r>
              <a:t>aligne sur cycles recolte/vente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577840"/>
            <a:ext cx="3200400" cy="822960"/>
          </a:xfrm>
          <a:prstGeom prst="roundRect">
            <a:avLst/>
          </a:prstGeom>
          <a:solidFill>
            <a:srgbClr val="74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Pas de suivi post-credit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5760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766E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5577840"/>
            <a:ext cx="6675120" cy="82296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A1A1A"/>
                </a:solidFill>
                <a:latin typeface="Segoe UI"/>
              </a:defRPr>
            </a:pPr>
            <a:r>
              <a:t>Boucle remboursement/retard/defaut</a:t>
            </a:r>
            <a:br/>
            <a:r>
              <a:t>qui enrichit l'historique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766E"/>
                </a:solidFill>
                <a:latin typeface="Segoe UI"/>
              </a:defRPr>
            </a:pPr>
            <a:r>
              <a:t>FEUILLE DE 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Segoe UI"/>
              </a:defRPr>
            </a:pPr>
            <a:r>
              <a:t>Du hackathon a l'echelle UEMOA en 36 mois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200400"/>
            <a:ext cx="10698480" cy="27432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54480" y="3063240"/>
            <a:ext cx="457200" cy="45720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4E3B"/>
                </a:solidFill>
                <a:latin typeface="Segoe UI"/>
              </a:defRPr>
            </a:pPr>
            <a:r>
              <a:t>Hackathon</a:t>
            </a:r>
            <a:br/>
            <a:r>
              <a:t>Mai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1A"/>
                </a:solidFill>
                <a:latin typeface="Segoe UI"/>
              </a:defRPr>
            </a:pPr>
            <a:r>
              <a:t>MVP valide</a:t>
            </a:r>
            <a:br/>
            <a:r>
              <a:t>Scoring 13 criteres</a:t>
            </a:r>
            <a:br/>
            <a:r>
              <a:t>Collecte agent</a:t>
            </a:r>
            <a:br/>
            <a:r>
              <a:t>Boucle post-credit</a:t>
            </a:r>
          </a:p>
        </p:txBody>
      </p:sp>
      <p:sp>
        <p:nvSpPr>
          <p:cNvPr id="8" name="Oval 7"/>
          <p:cNvSpPr/>
          <p:nvPr/>
        </p:nvSpPr>
        <p:spPr>
          <a:xfrm>
            <a:off x="4206240" y="3063240"/>
            <a:ext cx="457200" cy="4572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6459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766E"/>
                </a:solidFill>
                <a:latin typeface="Segoe UI"/>
              </a:defRPr>
            </a:pPr>
            <a:r>
              <a:t>Pilote terrain</a:t>
            </a:r>
            <a:br/>
            <a:r>
              <a:t>6 mois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749039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1A"/>
                </a:solidFill>
                <a:latin typeface="Segoe UI"/>
              </a:defRPr>
            </a:pPr>
            <a:r>
              <a:t>100 agriculteurs</a:t>
            </a:r>
            <a:br/>
            <a:r>
              <a:t>5 agents formes</a:t>
            </a:r>
            <a:br/>
            <a:r>
              <a:t>2 IMF partenaires</a:t>
            </a:r>
            <a:br/>
            <a:r>
              <a:t>1er credit debloque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0" y="3063240"/>
            <a:ext cx="457200" cy="457200"/>
          </a:xfrm>
          <a:prstGeom prst="ellipse">
            <a:avLst/>
          </a:prstGeom>
          <a:solidFill>
            <a:srgbClr val="258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6459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58399"/>
                </a:solidFill>
                <a:latin typeface="Segoe UI"/>
              </a:defRPr>
            </a:pPr>
            <a:r>
              <a:t>Croissance</a:t>
            </a:r>
            <a:br/>
            <a:r>
              <a:t>6-18 mois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3749039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1A"/>
                </a:solidFill>
                <a:latin typeface="Segoe UI"/>
              </a:defRPr>
            </a:pPr>
            <a:r>
              <a:t>3 pays UEMOA</a:t>
            </a:r>
            <a:br/>
            <a:r>
              <a:t>25 agents</a:t>
            </a:r>
            <a:br/>
            <a:r>
              <a:t>5 000 agriculteurs</a:t>
            </a:r>
            <a:br/>
            <a:r>
              <a:t>API Mobile Money</a:t>
            </a:r>
          </a:p>
        </p:txBody>
      </p:sp>
      <p:sp>
        <p:nvSpPr>
          <p:cNvPr id="14" name="Oval 13"/>
          <p:cNvSpPr/>
          <p:nvPr/>
        </p:nvSpPr>
        <p:spPr>
          <a:xfrm>
            <a:off x="9509760" y="3063240"/>
            <a:ext cx="457200" cy="457200"/>
          </a:xfrm>
          <a:prstGeom prst="ellipse">
            <a:avLst/>
          </a:prstGeom>
          <a:solidFill>
            <a:srgbClr val="D99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16459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99912"/>
                </a:solidFill>
                <a:latin typeface="Segoe UI"/>
              </a:defRPr>
            </a:pPr>
            <a:r>
              <a:t>Echelle</a:t>
            </a:r>
            <a:br/>
            <a:r>
              <a:t>18-36 mois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749039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1A"/>
                </a:solidFill>
                <a:latin typeface="Segoe UI"/>
              </a:defRPr>
            </a:pPr>
            <a:r>
              <a:t>8 pays UEMOA</a:t>
            </a:r>
            <a:br/>
            <a:r>
              <a:t>80 agents</a:t>
            </a:r>
            <a:br/>
            <a:r>
              <a:t>25 000 agriculteurs</a:t>
            </a:r>
            <a:br/>
            <a:r>
              <a:t>30+ IMF connectees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766E"/>
                </a:solidFill>
                <a:latin typeface="Segoe UI"/>
              </a:defRPr>
            </a:pPr>
            <a:r>
              <a:t>NOTRE AVANTAGE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Segoe UI"/>
              </a:defRPr>
            </a:pPr>
            <a:r>
              <a:t>Pourquoi AgriScore va reussir la ou les autres echouent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3474720" cy="219456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4E3B"/>
                </a:solidFill>
                <a:latin typeface="Segoe UI"/>
              </a:defRPr>
            </a:pPr>
            <a:r>
              <a:t>Realisme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1A"/>
                </a:solidFill>
                <a:latin typeface="Segoe UI"/>
              </a:defRPr>
            </a:pPr>
            <a:r>
              <a:t>Pas de techno-solutionnisme.</a:t>
            </a:r>
            <a:br/>
            <a:r>
              <a:t>Nous partons des acteurs existants</a:t>
            </a:r>
            <a:br/>
            <a:r>
              <a:t>(agents, cooperatives, tontines).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554480"/>
            <a:ext cx="3474720" cy="219456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737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4E3B"/>
                </a:solidFill>
                <a:latin typeface="Segoe UI"/>
              </a:defRPr>
            </a:pPr>
            <a:r>
              <a:t>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1945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1A"/>
                </a:solidFill>
                <a:latin typeface="Segoe UI"/>
              </a:defRPr>
            </a:pPr>
            <a:r>
              <a:t>Nous ne faisons pas tout.</a:t>
            </a:r>
            <a:br/>
            <a:r>
              <a:t>Nous faisons UNE chose bien :</a:t>
            </a:r>
            <a:br/>
            <a:r>
              <a:t>rendre l'agriculteur financable.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554480"/>
            <a:ext cx="3474720" cy="219456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9" y="1737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4E3B"/>
                </a:solidFill>
                <a:latin typeface="Segoe UI"/>
              </a:defRPr>
            </a:pPr>
            <a:r>
              <a:t>Terrain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59" y="21945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1A"/>
                </a:solidFill>
                <a:latin typeface="Segoe UI"/>
              </a:defRPr>
            </a:pPr>
            <a:r>
              <a:t>Consentement en langue locale,</a:t>
            </a:r>
            <a:br/>
            <a:r>
              <a:t>temoin, foncier coutumier.</a:t>
            </a:r>
            <a:br/>
            <a:r>
              <a:t>Nous comprenons la realite.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3474720" cy="219456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97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4E3B"/>
                </a:solidFill>
                <a:latin typeface="Segoe UI"/>
              </a:defRPr>
            </a:pPr>
            <a:r>
              <a:t>Modele viable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548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1A"/>
                </a:solidFill>
                <a:latin typeface="Segoe UI"/>
              </a:defRPr>
            </a:pPr>
            <a:r>
              <a:t>Les IMF paient parce qu'on leur</a:t>
            </a:r>
            <a:br/>
            <a:r>
              <a:t>fait gagner du temps et</a:t>
            </a:r>
            <a:br/>
            <a:r>
              <a:t>reduire le risque credit.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4114800"/>
            <a:ext cx="3474720" cy="219456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4297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4E3B"/>
                </a:solidFill>
                <a:latin typeface="Segoe UI"/>
              </a:defRPr>
            </a:pPr>
            <a:r>
              <a:t>Scalable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7548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1A"/>
                </a:solidFill>
                <a:latin typeface="Segoe UI"/>
              </a:defRPr>
            </a:pPr>
            <a:r>
              <a:t>Agent + USSD + API.</a:t>
            </a:r>
            <a:br/>
            <a:r>
              <a:t>Fonctionne sans smartphone,</a:t>
            </a:r>
            <a:br/>
            <a:r>
              <a:t>meme en zone 2G.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64E3B"/>
            </a:gs>
            <a:gs pos="100000">
              <a:srgbClr val="0F766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AgriScore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1FAE5"/>
                </a:solidFill>
                <a:latin typeface="Segoe UI"/>
              </a:defRPr>
            </a:pPr>
            <a:r>
              <a:t>Transformer la confiance terrain en preuves bancables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3291840"/>
            <a:ext cx="3840480" cy="1645920"/>
          </a:xfrm>
          <a:prstGeom prst="roundRect">
            <a:avLst/>
          </a:prstGeom>
          <a:solidFill>
            <a:srgbClr val="13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474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15M FCFA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40233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FAE5"/>
                </a:solidFill>
                <a:latin typeface="Segoe UI"/>
              </a:defRPr>
            </a:pPr>
            <a:r>
              <a:t>Financement pre-seed</a:t>
            </a:r>
            <a:br/>
            <a:r>
              <a:t>pour valider le pilote terrain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291840"/>
            <a:ext cx="3840480" cy="1645920"/>
          </a:xfrm>
          <a:prstGeom prst="roundRect">
            <a:avLst/>
          </a:prstGeom>
          <a:solidFill>
            <a:srgbClr val="13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3474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6 mois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40233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FAE5"/>
                </a:solidFill>
                <a:latin typeface="Segoe UI"/>
              </a:defRPr>
            </a:pPr>
            <a:r>
              <a:t>Pour prouver le modele :</a:t>
            </a:r>
            <a:br/>
            <a:r>
              <a:t>1er credit debloque via AgriScore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303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7F3D0"/>
                </a:solidFill>
                <a:latin typeface="Segoe UI"/>
              </a:defRPr>
            </a:pPr>
            <a:r>
              <a:t>"Notre ambition est claire : ne pas remplacer la banque,</a:t>
            </a:r>
            <a:br/>
            <a:r>
              <a:t>mais lui donner les preuves necessaires pour financer ceux qui nourrissent le pays."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6217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E7B7"/>
                </a:solidFill>
                <a:latin typeface="Segoe UI"/>
              </a:defRPr>
            </a:pPr>
            <a:r>
              <a:t>Equipe FresCoop  |  Hackathon GIM-UEMOA 2026  |  Friction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