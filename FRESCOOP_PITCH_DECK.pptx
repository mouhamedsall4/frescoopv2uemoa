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Revenus</c:v>
                </c:pt>
              </c:strCache>
            </c:strRef>
          </c:tx>
          <c:spPr>
            <a:solidFill>
              <a:srgbClr val="064E3B"/>
            </a:solidFill>
          </c:spPr>
          <c:cat>
            <c:strRef>
              <c:f>Sheet1!$A$2:$A$4</c:f>
              <c:strCache>
                <c:ptCount val="3"/>
                <c:pt idx="0">
                  <c:v>Annee 1
(Pilote)</c:v>
                </c:pt>
                <c:pt idx="1">
                  <c:v>Annee 2
(Croissance)</c:v>
                </c:pt>
                <c:pt idx="2">
                  <c:v>Annee 3
(Echelle)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201</c:v>
                </c:pt>
                <c:pt idx="2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Couts</c:v>
                </c:pt>
              </c:strCache>
            </c:strRef>
          </c:tx>
          <c:spPr>
            <a:solidFill>
              <a:srgbClr val="E5E7EB"/>
            </a:solidFill>
          </c:spPr>
          <c:cat>
            <c:strRef>
              <c:f>Sheet1!$A$2:$A$4</c:f>
              <c:strCache>
                <c:ptCount val="3"/>
                <c:pt idx="0">
                  <c:v>Annee 1
(Pilote)</c:v>
                </c:pt>
                <c:pt idx="1">
                  <c:v>Annee 2
(Croissance)</c:v>
                </c:pt>
                <c:pt idx="2">
                  <c:v>Annee 3
(Echelle)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</c:v>
                </c:pt>
                <c:pt idx="1">
                  <c:v>149</c:v>
                </c:pt>
                <c:pt idx="2">
                  <c:v>282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4E3B"/>
            </a:gs>
            <a:gs pos="100000">
              <a:srgbClr val="0F766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1097280"/>
            <a:ext cx="3931920" cy="457200"/>
          </a:xfrm>
          <a:prstGeom prst="roundRect">
            <a:avLst/>
          </a:prstGeom>
          <a:solidFill>
            <a:srgbClr val="13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HACKATHON FILIERES AGRICOLES GIM-UEMOA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FresCoop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1FAE5"/>
                </a:solidFill>
                <a:latin typeface="Segoe UI"/>
              </a:defRPr>
            </a:pPr>
            <a:r>
              <a:t>De la recolte au credit : la chaine de valeur agricole digitalisee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Segoe UI"/>
              </a:defRPr>
            </a:pPr>
            <a:r>
              <a:t>Micro-hubs solaires, intelligence marche, scoring agricole (AgriScore)</a:t>
            </a:r>
            <a:br/>
            <a:r>
              <a:t>et paiement partenaire pour rendre chaque agriculteur financable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Friction 4 : Acces limite aux financements agricoles  |  Equipe FresCoop  |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LE PROBLEME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80% des agriculteurs UEMOA sont exclus du credit.</a:t>
            </a:r>
            <a:br/>
            <a:r>
              <a:t>Pas parce qu'ils sont risques — parce que leur credibilite n'est pas documentee.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13716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80%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Agriculteurs exclus</a:t>
            </a:r>
            <a:br/>
            <a:r>
              <a:t>du credit formel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011680"/>
            <a:ext cx="2377440" cy="1371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Credit bancaire vers</a:t>
            </a:r>
            <a:br/>
            <a:r>
              <a:t>l'agriculture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011680"/>
            <a:ext cx="2377440" cy="13716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60M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Exploitants agricoles</a:t>
            </a:r>
            <a:br/>
            <a:r>
              <a:t>dans l'espace UEMOA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011680"/>
            <a:ext cx="2377440" cy="13716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$2.5Mds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Gap de financement</a:t>
            </a:r>
            <a:br/>
            <a:r>
              <a:t>agricole Afrique Ouest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 b="1">
                <a:solidFill>
                  <a:srgbClr val="1A1A1A"/>
                </a:solidFill>
                <a:latin typeface="Segoe UI"/>
              </a:defRPr>
            </a:pPr>
            <a:r>
              <a:t>Pourquoi ce probleme persiste :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Les banques n'ont aucune donnee fiable sur les agriculteurs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Les ventes existent mais sont informelles et non tracees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 titre foncier formel exclut 70% des producteurs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Les agriculteurs productifs remboursent deja (tontines, prets informels)</a:t>
            </a:r>
          </a:p>
          <a:p>
            <a:pPr>
              <a:spcAft>
                <a:spcPts val="624"/>
              </a:spcAft>
              <a:defRPr sz="1300">
                <a:solidFill>
                  <a:srgbClr val="1A1A1A"/>
                </a:solidFill>
                <a:latin typeface="Segoe UI"/>
              </a:defRPr>
            </a:pPr>
            <a:r>
              <a:t>   Mais cette credibilite n'est documentee nulle part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NOTRE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Segoe UI"/>
              </a:defRPr>
            </a:pPr>
            <a:r>
              <a:t>FresCoop : du terrain au dossier bancaire en 5 etapes</a:t>
            </a:r>
          </a:p>
        </p:txBody>
      </p:sp>
      <p:sp>
        <p:nvSpPr>
          <p:cNvPr id="4" name="Oval 3"/>
          <p:cNvSpPr/>
          <p:nvPr/>
        </p:nvSpPr>
        <p:spPr>
          <a:xfrm>
            <a:off x="1234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Collecte</a:t>
            </a:r>
            <a:br/>
            <a:r>
              <a:t>assistee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Agent terrain</a:t>
            </a:r>
            <a:br/>
            <a:r>
              <a:t>Langue locale</a:t>
            </a:r>
            <a:br/>
            <a:r>
              <a:t>Temoin + consentement</a:t>
            </a:r>
          </a:p>
        </p:txBody>
      </p:sp>
      <p:sp>
        <p:nvSpPr>
          <p:cNvPr id="7" name="Oval 6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Score</a:t>
            </a:r>
            <a:br/>
            <a:r>
              <a:t>contextualise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13 criteres</a:t>
            </a:r>
            <a:br/>
            <a:r>
              <a:t>Foncier coutumier</a:t>
            </a:r>
            <a:br/>
            <a:r>
              <a:t>Tontine, Mobile Money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Dossier</a:t>
            </a:r>
            <a:br/>
            <a:r>
              <a:t>verifiable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PDF + QR code</a:t>
            </a:r>
            <a:br/>
            <a:r>
              <a:t>Preuves tracees</a:t>
            </a:r>
            <a:br/>
            <a:r>
              <a:t>Code verification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Calendrier</a:t>
            </a:r>
            <a:br/>
            <a:r>
              <a:t>saisonnier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Remboursement aligne</a:t>
            </a:r>
            <a:br/>
            <a:r>
              <a:t>sur cycles recolte</a:t>
            </a:r>
            <a:br/>
            <a:r>
              <a:t>et periodes vente</a:t>
            </a:r>
          </a:p>
        </p:txBody>
      </p:sp>
      <p:sp>
        <p:nvSpPr>
          <p:cNvPr id="16" name="Oval 15"/>
          <p:cNvSpPr/>
          <p:nvPr/>
        </p:nvSpPr>
        <p:spPr>
          <a:xfrm>
            <a:off x="10378440" y="1645920"/>
            <a:ext cx="548640" cy="5486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Boucle</a:t>
            </a:r>
            <a:br/>
            <a:r>
              <a:t>post-credit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108960"/>
            <a:ext cx="21031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Suivi remboursement</a:t>
            </a:r>
            <a:br/>
            <a:r>
              <a:t>Historique evolutif</a:t>
            </a:r>
            <a:br/>
            <a:r>
              <a:t>Score qui progresse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766E"/>
                </a:solidFill>
                <a:latin typeface="Segoe UI"/>
              </a:defRPr>
            </a:pPr>
            <a:r>
              <a:t>AGRICULTEUR  ───────&gt;  AGENT TERRAIN  ───────&gt;  FRESCOOP (AgriScore)  ───────&gt;  BANQUE / IMF  ───────&gt;  CREDIT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669280"/>
            <a:ext cx="8229600" cy="7315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L'agriculteur ne s'inscrit pas seul sur une app. Il est accompagne par un agent de confiance, dans sa langue.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SCORING CONTEXTUALISE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13 criteres adaptes a la realite agricole africaine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FresCoop — Scoring AgriScore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Anciennete du compte agriculteur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Transactions verifiees (ventes reelles)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Paiements Mobile Money (Wave, Orange)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Lots traces avec capteurs IoT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Attestations de cooperatives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Preuves economiques documentees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Revenu mensuel moyen calcule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Groupement / GIE / Cooperative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Foncier (formel OU coutumier)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Experience agricole (annees)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Mobile Money actif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Tontine / epargne informelle</a:t>
            </a:r>
          </a:p>
          <a:p>
            <a:pPr>
              <a:spcAft>
                <a:spcPts val="600"/>
              </a:spcAft>
              <a:defRPr sz="1100">
                <a:solidFill>
                  <a:srgbClr val="1A1A1A"/>
                </a:solidFill>
                <a:latin typeface="Segoe UI"/>
              </a:defRPr>
            </a:pPr>
            <a:r>
              <a:t>  Historique de remboursement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Scoring bancaire classique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Titre foncier formel obligatoire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Bulletin de salaire requis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Historique bancaire (compte courant)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Garanties immobilieres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Pas de prise en compte du coutumier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Pas de donnees de production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Pas de preuves informelles</a:t>
            </a:r>
          </a:p>
          <a:p>
            <a:pPr>
              <a:spcAft>
                <a:spcPts val="600"/>
              </a:spcAft>
              <a:defRPr sz="1100">
                <a:solidFill>
                  <a:srgbClr val="6B7280"/>
                </a:solidFill>
                <a:latin typeface="Segoe UI"/>
              </a:defRPr>
            </a:pPr>
            <a:r>
              <a:t>  Exclut 80% des agriculteurs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303520"/>
            <a:ext cx="502920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F4444"/>
                </a:solidFill>
                <a:latin typeface="Segoe UI"/>
              </a:defRPr>
            </a:pPr>
            <a:r>
              <a:t>Resultat : 80% des agriculteurs</a:t>
            </a:r>
            <a:br/>
            <a:r>
              <a:t>exclus du systeme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502920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64E3B"/>
                </a:solidFill>
                <a:latin typeface="Segoe UI"/>
              </a:defRPr>
            </a:pPr>
            <a:r>
              <a:t>Resultat : scoring inclusif</a:t>
            </a:r>
            <a:br/>
            <a:r>
              <a:t>qui valorise les realites terrain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PARCOURS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De l'inscription au premier credit : le parcours reel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INSCRIPTION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L'agriculteur s'inscrit</a:t>
            </a:r>
            <a:br/>
            <a:r>
              <a:t>(ou l'agent l'inscrit)</a:t>
            </a:r>
            <a:br/>
            <a:r>
              <a:t>en 2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20116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17373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39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COLLECTE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L'agent collecte les</a:t>
            </a:r>
            <a:br/>
            <a:r>
              <a:t>donnees terrain en</a:t>
            </a:r>
            <a:br/>
            <a:r>
              <a:t>langue locale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383280" cy="20116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17373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Le score se calcule</a:t>
            </a:r>
            <a:br/>
            <a:r>
              <a:t>automatiquement</a:t>
            </a:r>
            <a:br/>
            <a:r>
              <a:t>(13 criteres)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20624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DOSSIER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Un dossier bancaire</a:t>
            </a:r>
            <a:br/>
            <a:r>
              <a:t>PDF est genere avec</a:t>
            </a:r>
            <a:br/>
            <a:r>
              <a:t>QR de verification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114800"/>
            <a:ext cx="3383280" cy="2011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1999" y="420624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39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L'IMF consulte le</a:t>
            </a:r>
            <a:br/>
            <a:r>
              <a:t>dossier et decide</a:t>
            </a:r>
            <a:br/>
            <a:r>
              <a:t>(5 min vs 3 semaines)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14800"/>
            <a:ext cx="3383280" cy="2011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420624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SUIVI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Remboursements suivis</a:t>
            </a:r>
            <a:br/>
            <a:r>
              <a:t>Le score evolue</a:t>
            </a:r>
            <a:br/>
            <a:r>
              <a:t>Historique construit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Segoe UI"/>
              </a:defRPr>
            </a:pPr>
            <a:r>
              <a:t>L'agriculteur ne paie jamais. Les IMF paient pour des clients pre-qualifies.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22860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45%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Dossiers qualifies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2 000 - 5 000 FCFA</a:t>
            </a:r>
            <a:br/>
            <a:r>
              <a:t>par dossier consulte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651760" cy="2286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30%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Abonnements IMF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500K - 2M FCFA/mois</a:t>
            </a:r>
            <a:br/>
            <a:r>
              <a:t>licence plateforme +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651760" cy="22860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15%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Commission credit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1-2% du montant</a:t>
            </a:r>
            <a:br/>
            <a:r>
              <a:t>du pret debloque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45920"/>
            <a:ext cx="2651760" cy="22860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10%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Programmes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D1FAE5"/>
                </a:solidFill>
              </a:defRPr>
            </a:pPr>
            <a:r>
              <a:t>Contrats bailleurs</a:t>
            </a:r>
            <a:br/>
            <a:r>
              <a:t>et gouvernements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Projection de revenus (FCFA)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4663440"/>
          <a:ext cx="54864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4572000"/>
            <a:ext cx="2377440" cy="13716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480M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Revenus Annee 3</a:t>
            </a:r>
            <a:br/>
            <a:r>
              <a:t>(FCFA)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4572000"/>
            <a:ext cx="2377440" cy="1371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Marge nette</a:t>
            </a:r>
            <a:br/>
            <a:r>
              <a:t>Annee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6035040"/>
            <a:ext cx="2377440" cy="13716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x10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Croissance</a:t>
            </a:r>
            <a:br/>
            <a:r>
              <a:t>en 3 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6035040"/>
            <a:ext cx="2377440" cy="13716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15M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Investissement</a:t>
            </a:r>
            <a:br/>
            <a:r>
              <a:t>initial (FCFA)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OPPORTUNITE DE 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Un marche de $2.5 milliards en Afrique de l'Ouest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4572000" cy="4572000"/>
          </a:xfrm>
          <a:prstGeom prst="ellipse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F766E"/>
                </a:solidFill>
              </a:defRPr>
            </a:pPr>
            <a:r>
              <a:t>TAM : $2.5 Mds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2560320"/>
            <a:ext cx="2926080" cy="2926080"/>
          </a:xfrm>
          <a:prstGeom prst="ellipse">
            <a:avLst/>
          </a:prstGeom>
          <a:solidFill>
            <a:srgbClr val="A7F3D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>
                <a:solidFill>
                  <a:srgbClr val="064E3B"/>
                </a:solidFill>
              </a:defRPr>
            </a:pPr>
            <a:r>
              <a:t>SAM : $450M</a:t>
            </a:r>
          </a:p>
        </p:txBody>
      </p:sp>
      <p:sp>
        <p:nvSpPr>
          <p:cNvPr id="6" name="Oval 5"/>
          <p:cNvSpPr/>
          <p:nvPr/>
        </p:nvSpPr>
        <p:spPr>
          <a:xfrm>
            <a:off x="2926080" y="3474720"/>
            <a:ext cx="1645920" cy="16459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SOM</a:t>
            </a:r>
            <a:br/>
            <a:r>
              <a:t>$12M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TAM — $2.5 Milliards/an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Scoring credit agricole pour 60M</a:t>
            </a:r>
            <a:br/>
            <a:r>
              <a:t>d'exploitants en Afrique de l'Ouest (8 pays UEMOA)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SAM — $450 Millions/an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49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Senegal + Mali + Cote d'Ivoire</a:t>
            </a:r>
            <a:br/>
            <a:r>
              <a:t>Filieres porteuses : riz, arachide, mangue, oignon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SOM — $12 Millions/an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Pilote Senegal : 3 regions, 5 000 agriculteurs,</a:t>
            </a:r>
            <a:br/>
            <a:r>
              <a:t>10 IMF partenaires (horizon 3 ans)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IMPACT SOCIAL &amp; ENVIRONNEMENTAL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Des resultats mesurables a 3 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377440" cy="13716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25 000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Agriculteurs avec</a:t>
            </a:r>
            <a:br/>
            <a:r>
              <a:t>identite financiere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377440" cy="1371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$3.4M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Credits</a:t>
            </a:r>
            <a:br/>
            <a:r>
              <a:t>debloques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377440" cy="137160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60%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Femmes</a:t>
            </a:r>
            <a:br/>
            <a:r>
              <a:t>beneficiaires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45920"/>
            <a:ext cx="2377440" cy="137160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-40%</a:t>
            </a:r>
          </a:p>
          <a:p>
            <a:pPr algn="ctr">
              <a:defRPr sz="1000">
                <a:solidFill>
                  <a:srgbClr val="D1FAE5"/>
                </a:solidFill>
                <a:latin typeface="Segoe UI"/>
              </a:defRPr>
            </a:pPr>
            <a:r>
              <a:t>Reduction taux</a:t>
            </a:r>
            <a:br/>
            <a:r>
              <a:t>de defaut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Alignement ODD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1 — Acces au credit pour les plus vulnerables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2 — Financement des intrants agricoles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5 — Scoring inclusif (GIE feminin, tontines)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8 — Formalisation de l'activite economique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ODD 10 — Inclusion financiere des ruraux exclus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Pourquoi ca fonctionne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Agents existants (ANCAR, cooperatives)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Donnees deja la (tontines, Mobile Money, ventes)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USSD pour les 70% sans smartphone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Consentement en langue locale + temoin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Scoring inclusif : pas besoin de titre foncier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Segoe UI"/>
              </a:defRPr>
            </a:pPr>
            <a:r>
              <a:t>Boucle post-credit : le score s'ameliore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CREDIBILITE &amp; ANTI-FRAUDE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Les 5 risques critiques securises dans le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00400" cy="82296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Score trop binaire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Preuves alternatives : droit coutumier,</a:t>
            </a:r>
            <a:br/>
            <a:r>
              <a:t>GIE, tontine, validation communautaire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200400" cy="822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Consentement insuffisant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56032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Langue locale, lecture orale par agent,</a:t>
            </a:r>
            <a:br/>
            <a:r>
              <a:t>presence temoin, trace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3200400" cy="822960"/>
          </a:xfrm>
          <a:prstGeom prst="roundRect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Fraude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56616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Score fiabilite agent, croisement donnees,</a:t>
            </a:r>
            <a:br/>
            <a:r>
              <a:t>taux coherence, historique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3200400" cy="822960"/>
          </a:xfrm>
          <a:prstGeom prst="roundRect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Credit non adapte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57200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Recommandation calendrier saisonnier</a:t>
            </a:r>
            <a:br/>
            <a:r>
              <a:t>aligne sur cycles recolte/vente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3200400" cy="822960"/>
          </a:xfrm>
          <a:prstGeom prst="roundRect">
            <a:avLst/>
          </a:prstGeom>
          <a:solidFill>
            <a:srgbClr val="74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Pas de suivi post-credit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760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5577840"/>
            <a:ext cx="6675120" cy="8229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A1A1A"/>
                </a:solidFill>
                <a:latin typeface="Segoe UI"/>
              </a:defRPr>
            </a:pPr>
            <a:r>
              <a:t>Boucle remboursement/retard/defaut</a:t>
            </a:r>
            <a:br/>
            <a:r>
              <a:t>qui enrichit l'historique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FEUILLE DE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Du hackathon a l'echelle UEMOA en 36 mois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274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306324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4E3B"/>
                </a:solidFill>
                <a:latin typeface="Segoe UI"/>
              </a:defRPr>
            </a:pPr>
            <a:r>
              <a:t>Hackathon</a:t>
            </a:r>
            <a:br/>
            <a:r>
              <a:t>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MVP valide</a:t>
            </a:r>
            <a:br/>
            <a:r>
              <a:t>Scoring 13 criteres</a:t>
            </a:r>
            <a:br/>
            <a:r>
              <a:t>Collecte agent</a:t>
            </a:r>
            <a:br/>
            <a:r>
              <a:t>Boucle post-credit</a:t>
            </a:r>
          </a:p>
        </p:txBody>
      </p:sp>
      <p:sp>
        <p:nvSpPr>
          <p:cNvPr id="8" name="Oval 7"/>
          <p:cNvSpPr/>
          <p:nvPr/>
        </p:nvSpPr>
        <p:spPr>
          <a:xfrm>
            <a:off x="4206240" y="306324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Pilote terrain</a:t>
            </a:r>
            <a:br/>
            <a:r>
              <a:t>6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100 agriculteurs</a:t>
            </a:r>
            <a:br/>
            <a:r>
              <a:t>5 agents formes</a:t>
            </a:r>
            <a:br/>
            <a:r>
              <a:t>2 IMF partenaires</a:t>
            </a:r>
            <a:br/>
            <a:r>
              <a:t>1er credit debloque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3063240"/>
            <a:ext cx="457200" cy="457200"/>
          </a:xfrm>
          <a:prstGeom prst="ellipse">
            <a:avLst/>
          </a:prstGeom>
          <a:solidFill>
            <a:srgbClr val="258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8399"/>
                </a:solidFill>
                <a:latin typeface="Segoe UI"/>
              </a:defRPr>
            </a:pPr>
            <a:r>
              <a:t>Croissance</a:t>
            </a:r>
            <a:br/>
            <a:r>
              <a:t>6-18 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3 pays UEMOA</a:t>
            </a:r>
            <a:br/>
            <a:r>
              <a:t>25 agents</a:t>
            </a:r>
            <a:br/>
            <a:r>
              <a:t>5 000 agriculteurs</a:t>
            </a:r>
            <a:br/>
            <a:r>
              <a:t>API Mobile Money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0" y="3063240"/>
            <a:ext cx="457200" cy="457200"/>
          </a:xfrm>
          <a:prstGeom prst="ellipse">
            <a:avLst/>
          </a:prstGeom>
          <a:solidFill>
            <a:srgbClr val="D99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9912"/>
                </a:solidFill>
                <a:latin typeface="Segoe UI"/>
              </a:defRPr>
            </a:pPr>
            <a:r>
              <a:t>Echelle</a:t>
            </a:r>
            <a:br/>
            <a:r>
              <a:t>18-36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Segoe UI"/>
              </a:defRPr>
            </a:pPr>
            <a:r>
              <a:t>8 pays UEMOA</a:t>
            </a:r>
            <a:br/>
            <a:r>
              <a:t>80 agents</a:t>
            </a:r>
            <a:br/>
            <a:r>
              <a:t>25 000 agriculteurs</a:t>
            </a:r>
            <a:br/>
            <a:r>
              <a:t>30+ IMF connectees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NOTRE AVANTAGE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Pourquoi FresCoop va reussir la ou les autres echouent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Realisme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Pas de techno-solutionnisme.</a:t>
            </a:r>
            <a:br/>
            <a:r>
              <a:t>Nous partons des acteurs existants</a:t>
            </a:r>
            <a:br/>
            <a:r>
              <a:t>(agents, cooperatives, tontines).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Nous ne faisons pas tout.</a:t>
            </a:r>
            <a:br/>
            <a:r>
              <a:t>Nous faisons UNE chose bien :</a:t>
            </a:r>
            <a:br/>
            <a:r>
              <a:t>rendre l'agriculteur financable.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55448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Terrain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Consentement en langue locale,</a:t>
            </a:r>
            <a:br/>
            <a:r>
              <a:t>temoin, foncier coutumier.</a:t>
            </a:r>
            <a:br/>
            <a:r>
              <a:t>Nous comprenons la realite.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Modele viable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Les IMF paient parce qu'on leur</a:t>
            </a:r>
            <a:br/>
            <a:r>
              <a:t>fait gagner du temps et</a:t>
            </a:r>
            <a:br/>
            <a:r>
              <a:t>reduire le risque credit.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114800"/>
            <a:ext cx="34747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Scalable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Segoe UI"/>
              </a:defRPr>
            </a:pPr>
            <a:r>
              <a:t>Agent + USSD + API.</a:t>
            </a:r>
            <a:br/>
            <a:r>
              <a:t>Fonctionne sans smartphone,</a:t>
            </a:r>
            <a:br/>
            <a:r>
              <a:t>meme en zone 2G.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4E3B"/>
            </a:gs>
            <a:gs pos="100000">
              <a:srgbClr val="0F766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FresCoop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FAE5"/>
                </a:solidFill>
                <a:latin typeface="Segoe UI"/>
              </a:defRPr>
            </a:pPr>
            <a:r>
              <a:t>De la recolte au credit — la chaine de valeur agricole digitalisee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91840"/>
            <a:ext cx="3840480" cy="1645920"/>
          </a:xfrm>
          <a:prstGeom prst="roundRect">
            <a:avLst/>
          </a:prstGeom>
          <a:solidFill>
            <a:srgbClr val="13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15M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023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FAE5"/>
                </a:solidFill>
                <a:latin typeface="Segoe UI"/>
              </a:defRPr>
            </a:pPr>
            <a:r>
              <a:t>Financement pre-seed</a:t>
            </a:r>
            <a:br/>
            <a:r>
              <a:t>pour valider le pilote terrain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91840"/>
            <a:ext cx="3840480" cy="1645920"/>
          </a:xfrm>
          <a:prstGeom prst="roundRect">
            <a:avLst/>
          </a:prstGeom>
          <a:solidFill>
            <a:srgbClr val="13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023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FAE5"/>
                </a:solidFill>
                <a:latin typeface="Segoe UI"/>
              </a:defRPr>
            </a:pPr>
            <a:r>
              <a:t>Pour prouver le modele :</a:t>
            </a:r>
            <a:br/>
            <a:r>
              <a:t>1er credit debloque via FresCoop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F3D0"/>
                </a:solidFill>
                <a:latin typeface="Segoe UI"/>
              </a:defRPr>
            </a:pPr>
            <a:r>
              <a:t>"Notre ambition est claire : ne pas remplacer la banque,</a:t>
            </a:r>
            <a:br/>
            <a:r>
              <a:t>mais lui donner les preuves necessaires pour financer ceux qui nourrissent le pays."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E7B7"/>
                </a:solidFill>
                <a:latin typeface="Segoe UI"/>
              </a:defRPr>
            </a:pPr>
            <a:r>
              <a:t>Equipe FresCoop  |  Hackathon GIM-UEMOA 2026  |  Friction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