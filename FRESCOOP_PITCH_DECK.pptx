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HACKATHON FILIÈRES AGRICOLES GIM-UEMOA 2026 — POINT 4 : ACCÈS AU FINANCEMENT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De l'invisible au finançable.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10B981"/>
                </a:solidFill>
                <a:latin typeface="Segoe UI"/>
              </a:defRPr>
            </a:pPr>
            <a:r>
              <a:t>En 90 jours.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1D5DB"/>
                </a:solidFill>
                <a:latin typeface="Segoe UI"/>
              </a:defRPr>
            </a:pPr>
            <a:r>
              <a:t>FresCoop transforme chaque vente, chaque livraison, chaque paiement d'un agriculteur en preuve bancaire vérifiable — construisant automatiquement un score de crédit exploitable par toute institution financière de la zone UEMOA.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2560320" cy="1188720"/>
          </a:xfrm>
          <a:prstGeom prst="roundRect">
            <a:avLst/>
          </a:prstGeom>
          <a:solidFill>
            <a:srgbClr val="144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852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Segoe UI"/>
              </a:defRPr>
            </a:pPr>
            <a:r>
              <a:t>des agriculteurs</a:t>
            </a:r>
            <a:br/>
            <a:r>
              <a:t>exclus du crédit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5303520"/>
            <a:ext cx="2560320" cy="1188720"/>
          </a:xfrm>
          <a:prstGeom prst="roundRect">
            <a:avLst/>
          </a:prstGeom>
          <a:solidFill>
            <a:srgbClr val="144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53949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Segoe UI"/>
              </a:defRPr>
            </a:pPr>
            <a:r>
              <a:t>60M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5852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Segoe UI"/>
              </a:defRPr>
            </a:pPr>
            <a:r>
              <a:t>d'agriculteurs</a:t>
            </a:r>
            <a:br/>
            <a:r>
              <a:t>dans l'UEMOA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5303520"/>
            <a:ext cx="2560320" cy="1188720"/>
          </a:xfrm>
          <a:prstGeom prst="roundRect">
            <a:avLst/>
          </a:prstGeom>
          <a:solidFill>
            <a:srgbClr val="144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53949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Segoe UI"/>
              </a:defRPr>
            </a:pPr>
            <a:r>
              <a:t>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852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Segoe UI"/>
              </a:defRPr>
            </a:pPr>
            <a:r>
              <a:t>du crédit va</a:t>
            </a:r>
            <a:br/>
            <a:r>
              <a:t>à l'agriculture</a:t>
            </a:r>
          </a:p>
        </p:txBody>
      </p:sp>
      <p:sp>
        <p:nvSpPr>
          <p:cNvPr id="16" name="Oval 15"/>
          <p:cNvSpPr/>
          <p:nvPr/>
        </p:nvSpPr>
        <p:spPr>
          <a:xfrm>
            <a:off x="10515600" y="45720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61320" y="502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5029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FresCoop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Segoe UI"/>
              </a:defRPr>
            </a:pPr>
            <a:r>
              <a:t>Les agriculteurs sont invisibles pour le système financier.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Segoe UI"/>
              </a:defRPr>
            </a:pPr>
            <a:r>
              <a:t>Pas parce qu'ils ne sont pas fiables — parce qu'ils n'ont aucune preuve exploitable de leur activité économique.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383280" cy="3840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560320"/>
            <a:ext cx="338328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DC262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egoe UI"/>
              </a:defRPr>
            </a:pPr>
            <a:r>
              <a:t>Sans accès au crédit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Segoe UI"/>
              </a:defRPr>
            </a:pPr>
            <a:r>
              <a:t>Les institutions financières ne financent pas ceux qu'elles ne peuvent pas évaluer.</a:t>
            </a:r>
            <a:br/>
            <a:r>
              <a:t>Pas de relevé bancaire = pas de crédit.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560320"/>
            <a:ext cx="3383280" cy="3840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59" y="2560320"/>
            <a:ext cx="338328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19" y="30175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D97706"/>
                </a:solidFill>
                <a:latin typeface="Segoe UI"/>
              </a:defRPr>
            </a:pPr>
            <a:r>
              <a:t>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19" y="39319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egoe UI"/>
              </a:defRPr>
            </a:pPr>
            <a:r>
              <a:t>Du crédit vers l'agriculture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19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Segoe UI"/>
              </a:defRPr>
            </a:pPr>
            <a:r>
              <a:t>Alors que l'agriculture représente 35% du PIB de la zone UEMOA.</a:t>
            </a:r>
            <a:br/>
            <a:r>
              <a:t>Un paradoxe inacceptable.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560320"/>
            <a:ext cx="3383280" cy="3840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560320"/>
            <a:ext cx="3383280" cy="5486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30175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E293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9319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egoe UI"/>
              </a:defRPr>
            </a:pPr>
            <a:r>
              <a:t>Historique financier exploitable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Segoe UI"/>
              </a:defRPr>
            </a:pPr>
            <a:r>
              <a:t>Chaque jour, des millions de transactions en espèces ne laissent aucune trace pour les banques.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Segoe UI"/>
              </a:defRPr>
            </a:pPr>
            <a:r>
              <a:t>Chaque transaction devient une preuve. Chaque preuve construit un score.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Segoe UI"/>
              </a:defRPr>
            </a:pPr>
            <a:r>
              <a:t>FresCoop capture automatiquement l'activité économique réelle et la transforme en dossier bancaire portable — sans changer les habitudes de l'agriculteur.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Captation automatique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Chaque vente, livraison, paiement génère des données de scoring sans effort.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24612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Scoring intelligent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Score de 0 à 100 calculé en temps réel. Pas de déclarations, des preuves.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3212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Dossier bancaire portable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PDF vérifiable par QR code, présentable à toute banque ou SFD.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2668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Accès au crédit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8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En 3 mois d'activité, passez d'invisible à finançable. Demande en 1 clic.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6696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1268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Vérification terrain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Des agents valident l'identité et accompagnent la progression.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MODÈLE ÉCONOMIQUE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Segoe UI"/>
              </a:defRPr>
            </a:pPr>
            <a:r>
              <a:t>Gratuit pour l'agriculteur. Rentable pour tous.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Segoe UI"/>
              </a:defRPr>
            </a:pPr>
            <a:r>
              <a:t>Un modèle à 3 sources de revenus, viable dès 500 utilisateurs actifs, scalable à l'échelle UEMOA.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38328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3383280" cy="64008"/>
          </a:xfrm>
          <a:prstGeom prst="rect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2834640"/>
            <a:ext cx="548640" cy="548640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834640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835D"/>
                </a:solidFill>
                <a:latin typeface="Segoe UI"/>
              </a:defRPr>
            </a:pPr>
            <a:r>
              <a:t>$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3D2A"/>
                </a:solidFill>
                <a:latin typeface="Segoe UI"/>
              </a:defRPr>
            </a:pPr>
            <a:r>
              <a:t>Commission</a:t>
            </a:r>
            <a:br/>
            <a:r>
              <a:t>marketplace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2-5% par transaction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63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L'agriculteur vend 15-30% plus cher qu'au marché local. La commission est invisible dans le gain de marge.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377440"/>
            <a:ext cx="338328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2377440"/>
            <a:ext cx="3383280" cy="64008"/>
          </a:xfrm>
          <a:prstGeom prst="rect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46319" y="2834640"/>
            <a:ext cx="548640" cy="548640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7" y="2834640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835D"/>
                </a:solidFill>
                <a:latin typeface="Segoe UI"/>
              </a:defRPr>
            </a:pPr>
            <a:r>
              <a:t>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19" y="35661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3D2A"/>
                </a:solidFill>
                <a:latin typeface="Segoe UI"/>
              </a:defRPr>
            </a:pPr>
            <a:r>
              <a:t>Scoring-as-a-</a:t>
            </a:r>
            <a:br/>
            <a:r>
              <a:t>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19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Abonnement SFD/Banques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19" y="4663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Les institutions financières paient un forfait mensuel. Elles économisent 80% vs l'enquête terrain.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377440"/>
            <a:ext cx="338328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2377440"/>
            <a:ext cx="3383280" cy="64008"/>
          </a:xfrm>
          <a:prstGeom prst="rect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95360" y="2834640"/>
            <a:ext cx="548640" cy="548640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3648" y="2834640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835D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5661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3D2A"/>
                </a:solidFill>
                <a:latin typeface="Segoe UI"/>
              </a:defRPr>
            </a:pPr>
            <a:r>
              <a:t>Services à</a:t>
            </a:r>
            <a:br/>
            <a:r>
              <a:t>valeur ajoutée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Assurance, logistique, intrants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663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Partenariats avec assureurs et fournisseurs. Commission d'apport sur chaque service vendu.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943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F835D"/>
                </a:solidFill>
                <a:latin typeface="Segoe UI"/>
              </a:defRPr>
            </a:pPr>
            <a:r>
              <a:t>✓  Zéro barrière à l'entrée pour l'agriculteur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5943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F835D"/>
                </a:solidFill>
                <a:latin typeface="Segoe UI"/>
              </a:defRPr>
            </a:pPr>
            <a:r>
              <a:t>✓  Point mort : 500 agriculteurs + 3 SFD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943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F835D"/>
                </a:solidFill>
                <a:latin typeface="Segoe UI"/>
              </a:defRPr>
            </a:pPr>
            <a:r>
              <a:t>✓  TAM : 60M agriculteurs × 8 pays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IMPACT ÉCONOMIQUE &amp; SOCIAL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Segoe UI"/>
              </a:defRPr>
            </a:pPr>
            <a:r>
              <a:t>Des résultats concrets. Mesurables. Transformateurs.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560320" cy="14630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835D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803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deviennent bancables</a:t>
            </a:r>
            <a:br/>
            <a:r>
              <a:t>en 90 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2011680"/>
            <a:ext cx="2560320" cy="14630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1945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563EB"/>
                </a:solidFill>
                <a:latin typeface="Segoe UI"/>
              </a:defRPr>
            </a:pPr>
            <a:r>
              <a:t>-80%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803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coût d'évaluation</a:t>
            </a:r>
            <a:br/>
            <a:r>
              <a:t>pour les SFD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011680"/>
            <a:ext cx="2560320" cy="14630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A8A04"/>
                </a:solidFill>
                <a:latin typeface="Segoe UI"/>
              </a:defRPr>
            </a:pPr>
            <a:r>
              <a:t>+45%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8803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revenu additionnel</a:t>
            </a:r>
            <a:br/>
            <a:r>
              <a:t>pour l'agriculteur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2011680"/>
            <a:ext cx="2560320" cy="14630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21945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7C3AED"/>
                </a:solidFill>
                <a:latin typeface="Segoe UI"/>
              </a:defRPr>
            </a:pPr>
            <a:r>
              <a:t>×5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8803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plus d'agriculteurs</a:t>
            </a:r>
            <a:br/>
            <a:r>
              <a:t>financés par SFD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IMPACT SOCIAL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97680"/>
            <a:ext cx="2560320" cy="219456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72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Inclusion des femmes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40% des utilisateurs cibles sont des agricultrices — le scoring objectif élimine les biais de genre.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4297680"/>
            <a:ext cx="2560320" cy="219456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4572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Souveraineté des données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1206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L'agriculteur décide qui voit son dossier. Portabilité totale. Conforme aux principes UEMOA.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297680"/>
            <a:ext cx="2560320" cy="219456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572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Zones rurales — USSD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1206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Accès complet via téléphone basique. Pas besoin de smartphone. Personne n'est exclu.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4297680"/>
            <a:ext cx="2560320" cy="219456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0" y="4572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Sécurité alimentaire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51206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Plus d'agriculteurs financés = plus de production = impact direct sur la souveraineté alimentaire.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CE N'EST PAS UN PROTOTYPE. C'EST UN PRODUIT FONCTIONNEL.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FresCoop rend chaque agriculteur</a:t>
            </a:r>
            <a:br/>
            <a:r>
              <a:t>visible, vérifiable et finançable.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1D5DB"/>
                </a:solidFill>
                <a:latin typeface="Segoe UI"/>
              </a:defRPr>
            </a:pPr>
            <a:r>
              <a:t>Grâce à la preuve économique portable — un dossier bancaire construit</a:t>
            </a:r>
            <a:br/>
            <a:r>
              <a:t>automatiquement à partir de l'activité réelle sur la plateforme.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754880"/>
            <a:ext cx="4572000" cy="640080"/>
          </a:xfrm>
          <a:prstGeom prst="roundRect">
            <a:avLst/>
          </a:prstGeom>
          <a:solidFill>
            <a:srgbClr val="1F83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▶  Démo live : frescoopuemoa.up.railway.app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Segoe UI"/>
              </a:defRPr>
            </a:pPr>
            <a:r>
              <a:t>Contact : contact@frescoop.sn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Hackathon Filières Agricoles GIM-UEMOA 2026 — Point 4 : Accès au financement agricole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0" y="566928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70464" y="5742432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