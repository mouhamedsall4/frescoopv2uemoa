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822960" cy="822960"/>
          </a:xfrm>
          <a:prstGeom prst="ellipse">
            <a:avLst/>
          </a:prstGeom>
          <a:solidFill>
            <a:srgbClr val="15803D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6A34A"/>
                </a:solidFill>
              </a:defRPr>
            </a:pPr>
            <a: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FresCoop AgriScore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F7D0"/>
                </a:solidFill>
                <a:latin typeface="Segoe UI"/>
              </a:defRPr>
            </a:pPr>
            <a:r>
              <a:t>Rendre chaque agriculteur finançable grâce aux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D1FAE5"/>
                </a:solidFill>
                <a:latin typeface="Segoe UI"/>
              </a:defRPr>
            </a:pPr>
            <a:r>
              <a:t>L'agriculture = 35% du PIB UEMOA, 60% des emplois.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D1FAE5"/>
                </a:solidFill>
                <a:latin typeface="Segoe UI"/>
              </a:defRPr>
            </a:pPr>
            <a:r>
              <a:t>Pourtant : moins de 3% du financement formel.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D1FAE5"/>
                </a:solidFill>
                <a:latin typeface="Segoe U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D1FAE5"/>
                </a:solidFill>
                <a:latin typeface="Segoe UI"/>
              </a:defRPr>
            </a:pPr>
            <a:r>
              <a:t>Pourquoi ? Les banques ne prêtent pas à ceux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D1FAE5"/>
                </a:solidFill>
                <a:latin typeface="Segoe UI"/>
              </a:defRPr>
            </a:pPr>
            <a:r>
              <a:t>qu'elles ne peuvent pas scorer.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D1FAE5"/>
                </a:solidFill>
                <a:latin typeface="Segoe U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D1FAE5"/>
                </a:solidFill>
                <a:latin typeface="Segoe UI"/>
              </a:defRPr>
            </a:pPr>
            <a:r>
              <a:t>FresCoop résout ce paradoxe.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52160"/>
            <a:ext cx="384048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  HACKATHON GIM-UEMOA 2026 — Filières Agricoles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645920"/>
            <a:ext cx="3200400" cy="201168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800" b="1">
                <a:solidFill>
                  <a:srgbClr val="D97706"/>
                </a:solidFill>
              </a:defRPr>
            </a:pPr>
            <a:r>
              <a:t>$117 Mds</a:t>
            </a:r>
          </a:p>
          <a:p>
            <a:pPr algn="ctr">
              <a:defRPr sz="1200">
                <a:solidFill>
                  <a:srgbClr val="BBF7D0"/>
                </a:solidFill>
              </a:defRPr>
            </a:pPr>
            <a:r>
              <a:t>Gap de financement</a:t>
            </a:r>
          </a:p>
          <a:p>
            <a:pPr algn="ctr">
              <a:defRPr sz="1200">
                <a:solidFill>
                  <a:srgbClr val="BBF7D0"/>
                </a:solidFill>
              </a:defRPr>
            </a:pPr>
            <a:r>
              <a:t>agricole en Afrique (IFC)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931920"/>
            <a:ext cx="3200400" cy="16459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800" b="1">
                <a:solidFill>
                  <a:srgbClr val="DC2626"/>
                </a:solidFill>
              </a:defRPr>
            </a:pPr>
            <a:r>
              <a:t>97%</a:t>
            </a:r>
          </a:p>
          <a:p>
            <a:pPr algn="ctr">
              <a:defRPr sz="1200">
                <a:solidFill>
                  <a:srgbClr val="BBF7D0"/>
                </a:solidFill>
              </a:defRPr>
            </a:pPr>
            <a:r>
              <a:t>des agriculteurs UEMOA</a:t>
            </a:r>
          </a:p>
          <a:p>
            <a:pPr algn="ctr">
              <a:defRPr sz="1200">
                <a:solidFill>
                  <a:srgbClr val="BBF7D0"/>
                </a:solidFill>
              </a:defRPr>
            </a:pPr>
            <a:r>
              <a:t>sans accès au crédit formel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645920" cy="3657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Segoe UI"/>
              </a:defRPr>
            </a:pPr>
            <a:r>
              <a:t>L'accès au financement agricole est bloqué par un cercle vicieux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L'absence de données fiables empêche les institutions de financer ceux qui produisent la richesse du continent.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L'AGRICULTEUR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Invisible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Aucun historique bancaire ni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Isolé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58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Pas de preuve économique de son activité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Bloqué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Ne peut pas investir pour augmenter sa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Méfiant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875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Les agents terrain coûtent cher et sont rares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011680"/>
            <a:ext cx="347472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 BANQUE / SFD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25603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Aveugle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2944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Pas de données pour évaluer le risque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4747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Coûts élevés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3858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Agents terrain = 15-25% du coût du crédit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3891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Défauts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47731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Taux de défaut de 15-30% sans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53035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39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Opportunité manquée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56875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$117 Mds de marché non servi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8" y="2011680"/>
            <a:ext cx="3474720" cy="41148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L'ÉCONOMIE UEMOA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8" y="25603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8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Segoe UI"/>
              </a:defRPr>
            </a:pPr>
            <a:r>
              <a:t>Sous-production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8" y="2944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Agriculteurs sans capital = rendements faibles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8" y="34747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8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Segoe UI"/>
              </a:defRPr>
            </a:pPr>
            <a:r>
              <a:t>Exode rural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8" y="3858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Les jeunes quittent faute de perspectives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598" y="43891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8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Segoe UI"/>
              </a:defRPr>
            </a:pPr>
            <a:r>
              <a:t>Dépendance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8" y="47731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Importations alimentaires en hausse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8" y="5303520"/>
            <a:ext cx="347472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8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Segoe UI"/>
              </a:defRPr>
            </a:pPr>
            <a:r>
              <a:t>Gaspillage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8" y="56875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30-40% de pertes post-récolte faute de moyens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4D3A"/>
                </a:solidFill>
                <a:latin typeface="Segoe UI"/>
              </a:defRPr>
            </a:pPr>
            <a:r>
              <a:t>« Ce n'est pas un manque de confiance. C'est un manque de données. FresCoop comble ce vide. 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4D3A"/>
                </a:solidFill>
              </a:defRPr>
            </a:pPr>
            <a:r>
              <a:t>NOTRE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Segoe UI"/>
              </a:defRPr>
            </a:pPr>
            <a:r>
              <a:t>FresCoop : la plateforme qui transforme l'activité agricole en score bancaire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Un écosystème complet : marketplace + scoring + crédit + remboursement automatique via GIM-Pay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Marketplace agricole + traçabilité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04288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Commandes horodatées, livraisons suivies, preuves économiques automatiques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Score de bancabilité sur 100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18688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12 critères : ventes, livraisons, régularité, identité, avis clients (étoiles)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Dossier bancaire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33088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Export PDF/API vers banques, SFD et fintechs partenaires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54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Crédit par tranches sécurisées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047488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40/30/30% — chaque tranche conditionnée à la preuve d'utilisation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76072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669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Remboursement intégré via GIM-Pay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961888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Prélèvement auto sur chaque vente. Taux de défaut &lt; 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COMMENT ÇA MARCHE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286000"/>
            <a:ext cx="3840480" cy="54864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4D3A"/>
                </a:solidFill>
                <a:latin typeface="Segoe UI"/>
              </a:defRPr>
            </a:pPr>
            <a:r>
              <a:t>  Inscription  →  Profil + CNI vérifiée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418320" y="2788920"/>
            <a:ext cx="164592" cy="164592"/>
          </a:xfrm>
          <a:prstGeom prst="down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0" y="2971800"/>
            <a:ext cx="3840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  Ventes  →  Commandes sur FresCoop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418320" y="3474720"/>
            <a:ext cx="164592" cy="164592"/>
          </a:xfrm>
          <a:prstGeom prst="down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3657600"/>
            <a:ext cx="3840480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Segoe UI"/>
              </a:defRPr>
            </a:pPr>
            <a:r>
              <a:t>  Notation  →  Clients notent (étoiles)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418320" y="4160520"/>
            <a:ext cx="164592" cy="164592"/>
          </a:xfrm>
          <a:prstGeom prst="down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89520" y="4343400"/>
            <a:ext cx="3840480" cy="54864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4D3A"/>
                </a:solidFill>
                <a:latin typeface="Segoe UI"/>
              </a:defRPr>
            </a:pPr>
            <a:r>
              <a:t>  Score  →  Bancabilité calculée /100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418320" y="4846320"/>
            <a:ext cx="164592" cy="164592"/>
          </a:xfrm>
          <a:prstGeom prst="down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9520" y="5029200"/>
            <a:ext cx="3840480" cy="548640"/>
          </a:xfrm>
          <a:prstGeom prst="roundRect">
            <a:avLst/>
          </a:prstGeom>
          <a:solidFill>
            <a:srgbClr val="CF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  Crédit  →  Demande en 1 clic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418320" y="5532120"/>
            <a:ext cx="164592" cy="164592"/>
          </a:xfrm>
          <a:prstGeom prst="down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89520" y="5715000"/>
            <a:ext cx="3840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  Rembourse  →  Auto via ventes GIM-Pay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743200" cy="3657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MODÈLE ÉCONOMIQUE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Segoe UI"/>
              </a:defRPr>
            </a:pPr>
            <a:r>
              <a:t>Un modèle gagnant-gagnant-gagnant : tout le monde y gagne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FresCoop monétise la création de valeur, pas la pauvreté. Chaque acteur paye pour ce qu'il reçoit.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51760" cy="365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AGRICULTEUR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6A34A"/>
                </a:solidFill>
                <a:latin typeface="Segoe UI"/>
              </a:defRPr>
            </a:pPr>
            <a:r>
              <a:t>CE QU'IL REÇOIT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Visibilité marketplace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Accès au financement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Score de bancabilité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Écoulement garanti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6A34A"/>
                </a:solidFill>
                <a:latin typeface="Segoe UI"/>
              </a:defRPr>
            </a:pPr>
            <a:r>
              <a:t>CE QU'IL PAYE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3-5% sur ses ventes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  (0% les 50K premiers FCFA)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Invisible dans son gain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  (il vend 15-30% plus cher)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651760" cy="3657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BANQUE / SFD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4884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2402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D4ED8"/>
                </a:solidFill>
                <a:latin typeface="Segoe UI"/>
              </a:defRPr>
            </a:pPr>
            <a:r>
              <a:t>CE QU'ELLE REÇOIT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Clients pré-scorés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Scoring fiable (vs agents)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Coût 10x &lt; agents terrain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Taux défaut &lt; 5%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D4ED8"/>
                </a:solidFill>
                <a:latin typeface="Segoe UI"/>
              </a:defRPr>
            </a:pPr>
            <a:r>
              <a:t>CE QU'ELLE PAYE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Abo 100K-200K FCFA/mois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  (scoring illimité)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1.5-2.5% sur prêts débloqués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15% du revenu d'intérêt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651760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CLIENT / ACHETEUR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891B2"/>
                </a:solidFill>
                <a:latin typeface="Segoe UI"/>
              </a:defRPr>
            </a:pPr>
            <a:r>
              <a:t>CE QU'IL REÇOIT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Produits frais traçables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Prix justes transparents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Cashback 2% fidélité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Notation → confiance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0891B2"/>
                </a:solidFill>
                <a:latin typeface="Segoe UI"/>
              </a:defRPr>
            </a:pPr>
            <a:r>
              <a:t>CE QU'IL PAYE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Prix normal du produit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(Pas de frais supplémentaire)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0891B2"/>
                </a:solidFill>
                <a:latin typeface="Segoe UI"/>
              </a:defRPr>
            </a:pPr>
            <a:r>
              <a:t>→ Le cashback le fidélise</a:t>
            </a:r>
          </a:p>
          <a:p>
            <a:pPr>
              <a:spcAft>
                <a:spcPts val="200"/>
              </a:spcAft>
              <a:defRPr sz="900" b="1">
                <a:solidFill>
                  <a:srgbClr val="0891B2"/>
                </a:solidFill>
                <a:latin typeface="Segoe UI"/>
              </a:defRPr>
            </a:pPr>
            <a:r>
              <a:t>→ Ses avis scorent les agris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737360"/>
            <a:ext cx="265176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AGENTS TERRAIN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14884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2402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97706"/>
                </a:solidFill>
                <a:latin typeface="Segoe UI"/>
              </a:defRPr>
            </a:pPr>
            <a:r>
              <a:t>CE QU'ILS REÇOIVENT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Revenus complémentaires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App mobile dédiée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Formation certifiante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D97706"/>
                </a:solidFill>
                <a:latin typeface="Segoe UI"/>
              </a:defRPr>
            </a:pPr>
            <a:r>
              <a:t>CE QU'ILS GAGNENT :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1500 FCFA/agri inscrit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1.5% sur prêts facilités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• Bonus 15K si rembours &gt;95%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D97706"/>
                </a:solidFill>
                <a:latin typeface="Segoe UI"/>
              </a:defRPr>
            </a:pPr>
            <a:r>
              <a:t>PARTENAIRES : ANCAR, SAED</a:t>
            </a:r>
          </a:p>
          <a:p>
            <a:pPr>
              <a:spcAft>
                <a:spcPts val="200"/>
              </a:spcAft>
              <a:defRPr sz="950" b="0">
                <a:solidFill>
                  <a:srgbClr val="1A1A1A"/>
                </a:solidFill>
                <a:latin typeface="Segoe UI"/>
              </a:defRPr>
            </a:pPr>
            <a:r>
              <a:t>(700+ agents déjà déployés)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60720"/>
            <a:ext cx="11064240" cy="822960"/>
          </a:xfrm>
          <a:prstGeom prst="roundRect">
            <a:avLst/>
          </a:prstGeom>
          <a:solidFill>
            <a:srgbClr val="0A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33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3-5%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44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Commission</a:t>
            </a:r>
          </a:p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agriculteur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833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1.5-2.5%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6144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Fee prêt</a:t>
            </a:r>
          </a:p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débloqué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833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100-200K/mois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6144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Abo scoring</a:t>
            </a:r>
          </a:p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banque/SFD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833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6144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Cashback client</a:t>
            </a:r>
          </a:p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(fidélisation)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833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33M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144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Agriculteurs</a:t>
            </a:r>
          </a:p>
          <a:p>
            <a:pPr algn="ctr">
              <a:defRPr sz="900">
                <a:solidFill>
                  <a:srgbClr val="BBF7D0"/>
                </a:solidFill>
                <a:latin typeface="Segoe UI"/>
              </a:defRPr>
            </a:pPr>
            <a:r>
              <a:t>adressables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37160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4D3A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Segoe UI"/>
              </a:defRPr>
            </a:pPr>
            <a:r>
              <a:t>Impact social, économique et systémique mesurable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Chaque agriculteur financé = une famille qui sort de la précarité + une chaîne de valeur structurée + un client bancaire créé.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Segoe UI"/>
              </a:defRPr>
            </a:pPr>
            <a:r>
              <a:t>+40%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Segoe UI"/>
              </a:defRPr>
            </a:pPr>
            <a:r>
              <a:t>Inclusion financière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d'agriculteurs accédant au crédit</a:t>
            </a:r>
          </a:p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formel pour la première fois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Segoe UI"/>
              </a:defRPr>
            </a:pPr>
            <a:r>
              <a:t>&lt; 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Segoe UI"/>
              </a:defRPr>
            </a:pPr>
            <a:r>
              <a:t>Taux de défaut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697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vs 15-30% sans scoring</a:t>
            </a:r>
          </a:p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(remboursement auto sur ventes)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920240"/>
            <a:ext cx="347472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8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+60%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18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Segoe UI"/>
              </a:defRPr>
            </a:pPr>
            <a:r>
              <a:t>Revenus agriculteurs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2697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grâce à l'accès au capital</a:t>
            </a:r>
          </a:p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et à la marketplace directe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Segoe UI"/>
              </a:defRPr>
            </a:pPr>
            <a:r>
              <a:t>÷10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Segoe UI"/>
              </a:defRPr>
            </a:pPr>
            <a:r>
              <a:t>Coût d'évaluation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09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pour les banques vs agents terrain</a:t>
            </a:r>
          </a:p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(scoring digital &lt; inspection)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Segoe UI"/>
              </a:defRPr>
            </a:pPr>
            <a:r>
              <a:t>-35%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Segoe UI"/>
              </a:defRPr>
            </a:pPr>
            <a:r>
              <a:t>Pertes post-récolte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709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les agriculteurs financés stockent</a:t>
            </a:r>
          </a:p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et vendent au bon moment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3931920"/>
            <a:ext cx="347472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198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x3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8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Segoe UI"/>
              </a:defRPr>
            </a:pPr>
            <a:r>
              <a:t>Emplois indirects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8" y="4709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par chaîne de valeur financée</a:t>
            </a:r>
          </a:p>
          <a:p>
            <a:pPr>
              <a:defRPr sz="1100">
                <a:solidFill>
                  <a:srgbClr val="6B7280"/>
                </a:solidFill>
                <a:latin typeface="Segoe UI"/>
              </a:defRPr>
            </a:pPr>
            <a:r>
              <a:t>(transport, stockage, commerce)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ODD : 1 (Pauvreté) • 2 (Faim) • 8 (Emploi) • 9 (Innovation) • 10 (Inégalités)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943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4D3A"/>
                </a:solidFill>
                <a:latin typeface="Segoe UI"/>
              </a:defRPr>
            </a:pPr>
            <a:r>
              <a:t>Partenaires stratégiques : GIM-UEMOA • ANCAR • La Banque Agricole • SAED • Wave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FresCoop AgriScore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6A34A"/>
                </a:solidFill>
                <a:latin typeface="Segoe UI"/>
              </a:defRPr>
            </a:pPr>
            <a:r>
              <a:t>De l'invisible au finançable.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6400800" cy="27432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D1FAE5"/>
                </a:solidFill>
                <a:latin typeface="Segoe UI"/>
              </a:defRPr>
            </a:pPr>
            <a:r>
              <a:t>  ✓  Seul scoring agricole natif UEMOA (pas un copier-coller kenyan)</a:t>
            </a:r>
          </a:p>
          <a:p>
            <a:pPr>
              <a:spcAft>
                <a:spcPts val="500"/>
              </a:spcAft>
              <a:defRPr sz="1300">
                <a:solidFill>
                  <a:srgbClr val="D1FAE5"/>
                </a:solidFill>
                <a:latin typeface="Segoe UI"/>
              </a:defRPr>
            </a:pPr>
            <a:r>
              <a:t>  ✓  Intégration GIM-Pay native — paiement dans l'écosystème du jury</a:t>
            </a:r>
          </a:p>
          <a:p>
            <a:pPr>
              <a:spcAft>
                <a:spcPts val="500"/>
              </a:spcAft>
              <a:defRPr sz="1300">
                <a:solidFill>
                  <a:srgbClr val="D1FAE5"/>
                </a:solidFill>
                <a:latin typeface="Segoe UI"/>
              </a:defRPr>
            </a:pPr>
            <a:r>
              <a:t>  ✓  Remboursement zéro-défaut intégré aux ventes</a:t>
            </a:r>
          </a:p>
          <a:p>
            <a:pPr>
              <a:spcAft>
                <a:spcPts val="500"/>
              </a:spcAft>
              <a:defRPr sz="1300">
                <a:solidFill>
                  <a:srgbClr val="D1FAE5"/>
                </a:solidFill>
                <a:latin typeface="Segoe UI"/>
              </a:defRPr>
            </a:pPr>
            <a:r>
              <a:t>  ✓  Réseau d'agents existant (ANCAR 700+ / SAED) — pas à construire</a:t>
            </a:r>
          </a:p>
          <a:p>
            <a:pPr>
              <a:spcAft>
                <a:spcPts val="500"/>
              </a:spcAft>
              <a:defRPr sz="1300">
                <a:solidFill>
                  <a:srgbClr val="D1FAE5"/>
                </a:solidFill>
                <a:latin typeface="Segoe UI"/>
              </a:defRPr>
            </a:pPr>
            <a:r>
              <a:t>  ✓  Déjà fonctionnel : Web + Mobile + API + Mode offline</a:t>
            </a:r>
          </a:p>
          <a:p>
            <a:pPr>
              <a:spcAft>
                <a:spcPts val="500"/>
              </a:spcAft>
              <a:defRPr sz="1300">
                <a:solidFill>
                  <a:srgbClr val="D1FAE5"/>
                </a:solidFill>
                <a:latin typeface="Segoe UI"/>
              </a:defRPr>
            </a:pPr>
            <a:r>
              <a:t>  ✓  3 filières GIM : Arachide • Mangue • Anacarde</a:t>
            </a:r>
          </a:p>
          <a:p>
            <a:pPr>
              <a:spcAft>
                <a:spcPts val="500"/>
              </a:spcAft>
              <a:defRPr sz="1300">
                <a:solidFill>
                  <a:srgbClr val="D1FAE5"/>
                </a:solidFill>
                <a:latin typeface="Segoe UI"/>
              </a:defRPr>
            </a:pPr>
            <a:r>
              <a:t>  ✓  Cashback client 2% — cercle vertueux de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468880"/>
            <a:ext cx="3931920" cy="2743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  <a:latin typeface="Segoe UI"/>
              </a:defRPr>
            </a:pPr>
            <a:r>
              <a:t>NOTRE DEMANDE</a:t>
            </a:r>
          </a:p>
          <a:p>
            <a:pPr algn="l">
              <a:defRPr sz="6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1. Accès API GIM-Pay</a:t>
            </a:r>
          </a:p>
          <a:p>
            <a:pPr algn="l">
              <a:defRPr sz="1100" b="0">
                <a:solidFill>
                  <a:srgbClr val="453003"/>
                </a:solidFill>
                <a:latin typeface="Segoe UI"/>
              </a:defRPr>
            </a:pPr>
            <a:r>
              <a:t>   Paiements et scoring intégrés</a:t>
            </a:r>
          </a:p>
          <a:p>
            <a:pPr algn="l">
              <a:defRPr sz="6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2. Pilote avec 3 SFD partenaires</a:t>
            </a:r>
          </a:p>
          <a:p>
            <a:pPr algn="l">
              <a:defRPr sz="1100" b="0">
                <a:solidFill>
                  <a:srgbClr val="453003"/>
                </a:solidFill>
                <a:latin typeface="Segoe UI"/>
              </a:defRPr>
            </a:pPr>
            <a:r>
              <a:t>   sur Arachide + Mangue (6 mois)</a:t>
            </a:r>
          </a:p>
          <a:p>
            <a:pPr algn="l">
              <a:defRPr sz="600" b="0">
                <a:solidFill>
                  <a:srgbClr val="1A1A1A"/>
                </a:solidFill>
                <a:latin typeface="Segoe UI"/>
              </a:defRPr>
            </a:pPr>
          </a:p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3. Convention ANCAR</a:t>
            </a:r>
          </a:p>
          <a:p>
            <a:pPr algn="l">
              <a:defRPr sz="1100" b="0">
                <a:solidFill>
                  <a:srgbClr val="453003"/>
                </a:solidFill>
                <a:latin typeface="Segoe UI"/>
              </a:defRPr>
            </a:pPr>
            <a:r>
              <a:t>   Accès au réseau de 700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6EFAC"/>
                </a:solidFill>
                <a:latin typeface="Segoe UI"/>
              </a:defRPr>
            </a:pPr>
            <a:r>
              <a:t>« Quand l'Afrique finance ses propres agriculteurs, tout le continent s'élève.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Hackathon GIM-UEMOA 2026  •  Filières Agricoles  •  Équipe FresCoop  •  frescoop.vercel.app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