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HACKATHON FILIÈRES AGRICOLES GIM-UEMOA 2026 — POINT 4 : ACCÈS AU FINANCEMENT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72184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De </a:t>
            </a:r>
            <a:r>
              <a:rPr dirty="0" err="1"/>
              <a:t>l'invisible</a:t>
            </a:r>
            <a:r>
              <a:rPr dirty="0"/>
              <a:t> au </a:t>
            </a:r>
            <a:r>
              <a:rPr dirty="0" err="1"/>
              <a:t>finançable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  <a:latin typeface="Segoe UI"/>
              </a:defRPr>
            </a:pPr>
            <a:r>
              <a:t>En 90 jours.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FresCoop transforme chaque vente, chaque livraison, chaque paiement d'un agriculteur en preuve bancaire vérifiable — construisant automatiquement un score de crédit exploitable par toute institution financière de la zone UEMOA.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2560320" cy="1188720"/>
          </a:xfrm>
          <a:prstGeom prst="roundRect">
            <a:avLst/>
          </a:prstGeom>
          <a:solidFill>
            <a:srgbClr val="14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52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des agriculteurs</a:t>
            </a:r>
            <a:br/>
            <a:r>
              <a:t>exclus du crédit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2560320" cy="1188720"/>
          </a:xfrm>
          <a:prstGeom prst="roundRect">
            <a:avLst/>
          </a:prstGeom>
          <a:solidFill>
            <a:srgbClr val="14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5394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60M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852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d'agriculteurs</a:t>
            </a:r>
            <a:br/>
            <a:r>
              <a:t>dans l'UEMOA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303520"/>
            <a:ext cx="2560320" cy="1188720"/>
          </a:xfrm>
          <a:prstGeom prst="roundRect">
            <a:avLst/>
          </a:prstGeom>
          <a:solidFill>
            <a:srgbClr val="14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5394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852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du crédit va</a:t>
            </a:r>
            <a:br/>
            <a:r>
              <a:t>à l'agriculture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0" y="4572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61320" y="502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FresCoop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835D"/>
                </a:solidFill>
                <a:latin typeface="Segoe UI"/>
              </a:defRPr>
            </a:pPr>
            <a:r>
              <a:t>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Les agriculteurs sont invisibles pour le système financier.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rPr dirty="0"/>
              <a:t>Pas </a:t>
            </a:r>
            <a:r>
              <a:rPr dirty="0" err="1"/>
              <a:t>parce</a:t>
            </a:r>
            <a:r>
              <a:rPr dirty="0"/>
              <a:t> </a:t>
            </a:r>
            <a:r>
              <a:rPr dirty="0" err="1"/>
              <a:t>qu'ils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</a:t>
            </a:r>
            <a:r>
              <a:rPr dirty="0" err="1"/>
              <a:t>fiables</a:t>
            </a:r>
            <a:r>
              <a:rPr dirty="0"/>
              <a:t> — </a:t>
            </a:r>
            <a:r>
              <a:rPr dirty="0" err="1"/>
              <a:t>parce</a:t>
            </a:r>
            <a:r>
              <a:rPr dirty="0"/>
              <a:t> </a:t>
            </a:r>
            <a:r>
              <a:rPr dirty="0" err="1"/>
              <a:t>qu'ils</a:t>
            </a:r>
            <a:r>
              <a:rPr dirty="0"/>
              <a:t> </a:t>
            </a:r>
            <a:r>
              <a:rPr dirty="0" err="1"/>
              <a:t>n'ont</a:t>
            </a:r>
            <a:r>
              <a:rPr dirty="0"/>
              <a:t> </a:t>
            </a:r>
            <a:r>
              <a:rPr dirty="0" err="1"/>
              <a:t>aucune</a:t>
            </a:r>
            <a:r>
              <a:rPr dirty="0"/>
              <a:t> </a:t>
            </a:r>
            <a:r>
              <a:rPr dirty="0" err="1"/>
              <a:t>preuve</a:t>
            </a:r>
            <a:r>
              <a:rPr dirty="0"/>
              <a:t> exploitable de </a:t>
            </a:r>
            <a:r>
              <a:rPr dirty="0" err="1"/>
              <a:t>leur</a:t>
            </a:r>
            <a:r>
              <a:rPr dirty="0"/>
              <a:t> </a:t>
            </a:r>
            <a:r>
              <a:rPr dirty="0" err="1"/>
              <a:t>activité</a:t>
            </a:r>
            <a:r>
              <a:rPr dirty="0"/>
              <a:t> économique.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383280" cy="3840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383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C2626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Sans accès au crédit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Les institutions financières ne financent pas ceux qu'elles ne peuvent pas évaluer.</a:t>
            </a:r>
            <a:br/>
            <a:r>
              <a:t>Pas de relevé bancaire = pas de crédit.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560320"/>
            <a:ext cx="3383280" cy="3840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2560320"/>
            <a:ext cx="33832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19" y="3017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97706"/>
                </a:solidFill>
                <a:latin typeface="Segoe UI"/>
              </a:defRPr>
            </a:pPr>
            <a:r>
              <a:t>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19" y="3931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Du crédit vers l'agriculture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Alors que l'agriculture représente 35% du PIB de la zone UEMOA.</a:t>
            </a:r>
            <a:br/>
            <a:r>
              <a:t>Un paradoxe inacceptable.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60320"/>
            <a:ext cx="3383280" cy="3840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560320"/>
            <a:ext cx="3383280" cy="548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293B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31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Historique financier exploitable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572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Chaque jour, des millions de transactions en espèces ne laissent aucune trace pour les banques.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835D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Segoe UI"/>
              </a:defRPr>
            </a:pPr>
            <a:r>
              <a:t>Chaque transaction devient une preuve. Chaque preuve construit un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4708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rPr dirty="0" err="1"/>
              <a:t>FresCoop</a:t>
            </a:r>
            <a:r>
              <a:rPr dirty="0"/>
              <a:t> capture </a:t>
            </a:r>
            <a:r>
              <a:rPr dirty="0" err="1"/>
              <a:t>automatiquement</a:t>
            </a:r>
            <a:r>
              <a:rPr dirty="0"/>
              <a:t> </a:t>
            </a:r>
            <a:r>
              <a:rPr dirty="0" err="1"/>
              <a:t>l'activité</a:t>
            </a:r>
            <a:r>
              <a:rPr dirty="0"/>
              <a:t> économique </a:t>
            </a:r>
            <a:r>
              <a:rPr dirty="0" err="1"/>
              <a:t>réelle</a:t>
            </a:r>
            <a:r>
              <a:rPr dirty="0"/>
              <a:t> et la </a:t>
            </a:r>
            <a:r>
              <a:rPr dirty="0" err="1"/>
              <a:t>transforme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dossier </a:t>
            </a:r>
            <a:r>
              <a:rPr dirty="0" err="1"/>
              <a:t>bancaire</a:t>
            </a:r>
            <a:r>
              <a:rPr dirty="0"/>
              <a:t> portable — sans changer les habitudes de </a:t>
            </a:r>
            <a:r>
              <a:rPr dirty="0" err="1"/>
              <a:t>l'agriculteur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057400" cy="38404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2926080"/>
            <a:ext cx="457200" cy="457200"/>
          </a:xfrm>
          <a:prstGeom prst="ellipse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Captation 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Chaque vente, livraison, paiement génère des données de scoring sans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560320"/>
            <a:ext cx="2057400" cy="38404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46120" y="2926080"/>
            <a:ext cx="457200" cy="457200"/>
          </a:xfrm>
          <a:prstGeom prst="ellipse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657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Scoring intelligent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4805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Score de 0 à 100 calculé en temps réel. Pas de déclarations, des preuves.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560320"/>
            <a:ext cx="2057400" cy="38404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86400" y="2926080"/>
            <a:ext cx="457200" cy="457200"/>
          </a:xfrm>
          <a:prstGeom prst="ellipse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657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Dossier bancaire portable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4805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PDF vérifiable par QR code, présentable à toute banque ou SFD.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560320"/>
            <a:ext cx="2057400" cy="38404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26680" y="2926080"/>
            <a:ext cx="457200" cy="457200"/>
          </a:xfrm>
          <a:prstGeom prst="ellipse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657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Accès au crédit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44805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En 3 mois d'activité, passez d'invisible à finançable. Demande en 1 clic.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560320"/>
            <a:ext cx="2057400" cy="38404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66960" y="2926080"/>
            <a:ext cx="457200" cy="457200"/>
          </a:xfrm>
          <a:prstGeom prst="ellipse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12680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657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Vérification terrain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4805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Des agents valident l'identité et accompagnent la progression.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835D"/>
                </a:solidFill>
                <a:latin typeface="Segoe UI"/>
              </a:defRPr>
            </a:pPr>
            <a:r>
              <a:t>MODELE ECONOMIQUE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Segoe UI"/>
              </a:defRPr>
            </a:pPr>
            <a:r>
              <a:t>Gratuit pour l'agriculteur. Rentable pour tous.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835D"/>
                </a:solidFill>
                <a:latin typeface="Segoe UI"/>
              </a:defRPr>
            </a:pPr>
            <a:r>
              <a:t>QUI PAIE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74519"/>
            <a:ext cx="25603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Agriculteur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GRATUIT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F835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874519"/>
            <a:ext cx="25603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Acheteur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Paie le produit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F835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874519"/>
            <a:ext cx="25603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SFD / Banque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Paie l'acces au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3383280" cy="23774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3383280" cy="45720"/>
          </a:xfrm>
          <a:prstGeom prst="rect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60% du 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Commission marketplace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2-5% par 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Segoe UI"/>
              </a:defRPr>
            </a:pPr>
            <a:r>
              <a:t>L'agriculteur vend plus cher, la commission est invisible dans le gain.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108960"/>
            <a:ext cx="3383280" cy="23774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108960"/>
            <a:ext cx="3383280" cy="45720"/>
          </a:xfrm>
          <a:prstGeom prst="rect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30% du 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Scoring-as-a-Service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150K-500K FCFA/mois par SFD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Segoe UI"/>
              </a:defRPr>
            </a:pPr>
            <a:r>
              <a:t>Les SFD economisent 80% vs l'enquete terrain traditionnelle.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108960"/>
            <a:ext cx="3383280" cy="23774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3108960"/>
            <a:ext cx="3383280" cy="45720"/>
          </a:xfrm>
          <a:prstGeom prst="rect">
            <a:avLst/>
          </a:prstGeom>
          <a:solidFill>
            <a:srgbClr val="1F8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10% du 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Services a valeur ajoutee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835D"/>
                </a:solidFill>
                <a:latin typeface="Segoe UI"/>
              </a:defRPr>
            </a:pPr>
            <a:r>
              <a:t>Commission 5-15%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Segoe UI"/>
              </a:defRPr>
            </a:pPr>
            <a:r>
              <a:t>Assurance recolte, intrants a credit, logistique — marches inaccessibles avant.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69280"/>
            <a:ext cx="2560320" cy="8686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742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Point mort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835D"/>
                </a:solidFill>
                <a:latin typeface="Segoe UI"/>
              </a:defRPr>
            </a:pPr>
            <a:r>
              <a:t>500 agri + 3 SFD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2910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6 mois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5669280"/>
            <a:ext cx="2560320" cy="8686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49040" y="5742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Cout marginal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835D"/>
                </a:solidFill>
                <a:latin typeface="Segoe UI"/>
              </a:defRPr>
            </a:pPr>
            <a:r>
              <a:t>~0 FCFA/agri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62910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100% cloud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669280"/>
            <a:ext cx="2560320" cy="8686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5742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TAM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835D"/>
                </a:solidFill>
                <a:latin typeface="Segoe UI"/>
              </a:defRPr>
            </a:pPr>
            <a:r>
              <a:t>60M x 8 pays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62910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Zone UEMOA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5669280"/>
            <a:ext cx="2560320" cy="8686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5742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Projection An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835D"/>
                </a:solidFill>
                <a:latin typeface="Segoe UI"/>
              </a:defRPr>
            </a:pPr>
            <a:r>
              <a:t>5 000 utilisateurs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62910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CA: 45M FCFA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835D"/>
                </a:solidFill>
                <a:latin typeface="Segoe UI"/>
              </a:defRPr>
            </a:pPr>
            <a:r>
              <a:t>IMPACT ÉCONOMIQUE &amp;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Des résultats concrets. Mesurables. Transformateurs.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14630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835D"/>
                </a:solidFill>
                <a:latin typeface="Segoe UI"/>
              </a:defRPr>
            </a:pPr>
            <a:r>
              <a:t>65%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deviennent bancables</a:t>
            </a:r>
            <a:br/>
            <a:r>
              <a:t>en 90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2560320" cy="14630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563EB"/>
                </a:solidFill>
                <a:latin typeface="Segoe UI"/>
              </a:defRPr>
            </a:pPr>
            <a:r>
              <a:t>-80%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coût d'évaluation</a:t>
            </a:r>
            <a:br/>
            <a:r>
              <a:t>pour les SFD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2560320" cy="14630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A8A04"/>
                </a:solidFill>
                <a:latin typeface="Segoe UI"/>
              </a:defRPr>
            </a:pPr>
            <a:r>
              <a:t>90j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du premier crédit</a:t>
            </a:r>
            <a:br/>
            <a:r>
              <a:t>obtenu via FresCoop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560320" cy="14630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Segoe UI"/>
              </a:defRPr>
            </a:pPr>
            <a:r>
              <a:t>×5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plus d'agriculteurs</a:t>
            </a:r>
            <a:br/>
            <a:r>
              <a:t>financés par SFD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835D"/>
                </a:solidFill>
                <a:latin typeface="Segoe UI"/>
              </a:defRPr>
            </a:pPr>
            <a:r>
              <a:t>IMPACT SUR L'ACCÈS AU FINANCEMENT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2560320" cy="219456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Inclusion des femmes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40% des agricultrices exclues accèdent enfin au crédit grâce à un scoring objectif sans biais de genre.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297680"/>
            <a:ext cx="2560320" cy="219456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Dossier bancaire portable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1206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L'agriculteur présente son score vérifié à n'importe quelle banque ou SFD de la zone UEMOA.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97680"/>
            <a:ext cx="2560320" cy="219456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Crédit sans garantie foncière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1206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Le scoring remplace l'exigence de titre foncier — la preuve d'activité suffit pour le financement.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297680"/>
            <a:ext cx="2560320" cy="219456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3D2A"/>
                </a:solidFill>
                <a:latin typeface="Segoe UI"/>
              </a:defRPr>
            </a:pPr>
            <a:r>
              <a:t>Réduction du risque SFD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1206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Les SFD financent en connaissance de cause : données vérifiées, historique complet, défaut prévisible.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CE N'EST PAS UN PROTOTYPE. C'EST UN PRODUIT FONCTIONNEL.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FresCoop rend chaque agriculteur</a:t>
            </a:r>
            <a:br/>
            <a:r>
              <a:t>visible, vérifiable et finançable.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Grâce à la preuve économique portable — un dossier bancaire construit</a:t>
            </a:r>
            <a:br/>
            <a:r>
              <a:t>automatiquement à partir de l'activité réelle sur la plateforme.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4572000" cy="640080"/>
          </a:xfrm>
          <a:prstGeom prst="roundRect">
            <a:avLst/>
          </a:prstGeom>
          <a:solidFill>
            <a:srgbClr val="1F8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▶  Démo live : frescoopuemoa.up.railway.app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Contact : contact@frescoop.sn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Hackathon Filières Agricoles GIM-UEMOA 2026 — Point 4 : Accès au financement agricole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70464" y="5742432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639</Words>
  <Application>Microsoft Office PowerPoint</Application>
  <PresentationFormat>Grand écran</PresentationFormat>
  <Paragraphs>103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elhsall@gmail.com</cp:lastModifiedBy>
  <cp:revision>2</cp:revision>
  <dcterms:created xsi:type="dcterms:W3CDTF">2013-01-27T09:14:16Z</dcterms:created>
  <dcterms:modified xsi:type="dcterms:W3CDTF">2026-05-19T15:52:12Z</dcterms:modified>
  <cp:category/>
</cp:coreProperties>
</file>