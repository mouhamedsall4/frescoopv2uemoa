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HACKATHON FILIÈRES AGRICOLES GIM-UEMOA 2026 — POINT 4 : ACCÈS AU FINANCEMENT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De l'invisible au finançable.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10B981"/>
                </a:solidFill>
                <a:latin typeface="Segoe UI"/>
              </a:defRPr>
            </a:pPr>
            <a:r>
              <a:t>En 90 jours.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Segoe UI"/>
              </a:defRPr>
            </a:pPr>
            <a:r>
              <a:t>FresCoop transforme chaque vente, chaque livraison, chaque paiement d'un agriculteur en preuve bancaire vérifiable — construisant automatiquement un score de crédit exploitable par toute institution financière de la zone UEMOA.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2560320" cy="1188720"/>
          </a:xfrm>
          <a:prstGeom prst="roundRect">
            <a:avLst/>
          </a:prstGeom>
          <a:solidFill>
            <a:srgbClr val="144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852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Segoe UI"/>
              </a:defRPr>
            </a:pPr>
            <a:r>
              <a:t>des agriculteurs</a:t>
            </a:r>
            <a:br/>
            <a:r>
              <a:t>exclus du crédit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5303520"/>
            <a:ext cx="2560320" cy="1188720"/>
          </a:xfrm>
          <a:prstGeom prst="roundRect">
            <a:avLst/>
          </a:prstGeom>
          <a:solidFill>
            <a:srgbClr val="144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53949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60M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5852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Segoe UI"/>
              </a:defRPr>
            </a:pPr>
            <a:r>
              <a:t>d'agriculteurs</a:t>
            </a:r>
            <a:br/>
            <a:r>
              <a:t>dans l'UEMOA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5303520"/>
            <a:ext cx="2560320" cy="1188720"/>
          </a:xfrm>
          <a:prstGeom prst="roundRect">
            <a:avLst/>
          </a:prstGeom>
          <a:solidFill>
            <a:srgbClr val="144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53949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852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Segoe UI"/>
              </a:defRPr>
            </a:pPr>
            <a:r>
              <a:t>du crédit va</a:t>
            </a:r>
            <a:br/>
            <a:r>
              <a:t>à l'agriculture</a:t>
            </a:r>
          </a:p>
        </p:txBody>
      </p:sp>
      <p:sp>
        <p:nvSpPr>
          <p:cNvPr id="16" name="Oval 15"/>
          <p:cNvSpPr/>
          <p:nvPr/>
        </p:nvSpPr>
        <p:spPr>
          <a:xfrm>
            <a:off x="10515600" y="45720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502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5029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FresCoop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Segoe UI"/>
              </a:defRPr>
            </a:pPr>
            <a:r>
              <a:t>Les agriculteurs sont invisibles pour le système financier.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Segoe UI"/>
              </a:defRPr>
            </a:pPr>
            <a:r>
              <a:t>Pas parce qu'ils ne sont pas fiables — parce qu'ils n'ont aucune preuve exploitable de leur activité économique.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383280" cy="3840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338328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DC262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egoe UI"/>
              </a:defRPr>
            </a:pPr>
            <a:r>
              <a:t>Sans accès au crédit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Segoe UI"/>
              </a:defRPr>
            </a:pPr>
            <a:r>
              <a:t>Les institutions financières ne financent pas ceux qu'elles ne peuvent pas évaluer.</a:t>
            </a:r>
            <a:br/>
            <a:r>
              <a:t>Pas de relevé bancaire = pas de crédit.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560320"/>
            <a:ext cx="3383280" cy="3840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59" y="2560320"/>
            <a:ext cx="338328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19" y="30175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D97706"/>
                </a:solidFill>
                <a:latin typeface="Segoe UI"/>
              </a:defRPr>
            </a:pPr>
            <a:r>
              <a:t>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19" y="39319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egoe UI"/>
              </a:defRPr>
            </a:pPr>
            <a:r>
              <a:t>Du crédit vers l'agriculture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19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Segoe UI"/>
              </a:defRPr>
            </a:pPr>
            <a:r>
              <a:t>Alors que l'agriculture représente 35% du PIB de la zone UEMOA.</a:t>
            </a:r>
            <a:br/>
            <a:r>
              <a:t>Un paradoxe inacceptable.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560320"/>
            <a:ext cx="3383280" cy="3840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560320"/>
            <a:ext cx="3383280" cy="5486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30175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E293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9319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egoe UI"/>
              </a:defRPr>
            </a:pPr>
            <a:r>
              <a:t>Historique financier exploitable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Segoe UI"/>
              </a:defRPr>
            </a:pPr>
            <a:r>
              <a:t>Chaque jour, des millions de transactions en espèces ne laissent aucune trace pour les banques.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Segoe UI"/>
              </a:defRPr>
            </a:pPr>
            <a:r>
              <a:t>Chaque transaction devient une preuve. Chaque preuve construit un score.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Segoe UI"/>
              </a:defRPr>
            </a:pPr>
            <a:r>
              <a:t>FresCoop capture automatiquement l'activité économique réelle et la transforme en dossier bancaire portable — sans changer les habitudes de l'agriculteur.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Captation automatique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Chaque vente, livraison, paiement génère des données de scoring sans effort.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24612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Scoring intelligent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Score de 0 à 100 calculé en temps réel. Pas de déclarations, des preuves.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3212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Dossier bancaire portable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PDF vérifiable par QR code, présentable à toute banque ou SFD.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2668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Accès au crédit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En 3 mois d'activité, passez d'invisible à finançable. Demande en 1 clic.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6696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1268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Vérification terrain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Des agents valident l'identité et accompagnent la progression.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MODELE ECONOMIQUE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Segoe UI"/>
              </a:defRPr>
            </a:pPr>
            <a:r>
              <a:t>Gratuit pour l'agriculteur. Rentable pour tous.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37160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F835D"/>
                </a:solidFill>
                <a:latin typeface="Segoe UI"/>
              </a:defRPr>
            </a:pPr>
            <a:r>
              <a:t>QUI PAIE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874519"/>
            <a:ext cx="2560320" cy="777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920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egoe UI"/>
              </a:defRPr>
            </a:pPr>
            <a:r>
              <a:t>Agriculteur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286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835D"/>
                </a:solidFill>
                <a:latin typeface="Segoe UI"/>
              </a:defRPr>
            </a:pPr>
            <a:r>
              <a:t>GRATUIT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F835D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874519"/>
            <a:ext cx="2560320" cy="777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920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egoe UI"/>
              </a:defRPr>
            </a:pPr>
            <a:r>
              <a:t>Acheteur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286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835D"/>
                </a:solidFill>
                <a:latin typeface="Segoe UI"/>
              </a:defRPr>
            </a:pPr>
            <a:r>
              <a:t>Paie le produit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F835D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874519"/>
            <a:ext cx="2560320" cy="777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920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egoe UI"/>
              </a:defRPr>
            </a:pPr>
            <a:r>
              <a:t>SFD / Banque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286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835D"/>
                </a:solidFill>
                <a:latin typeface="Segoe UI"/>
              </a:defRPr>
            </a:pPr>
            <a:r>
              <a:t>Paie l'acces au score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108960"/>
            <a:ext cx="3383280" cy="23774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108960"/>
            <a:ext cx="3383280" cy="45720"/>
          </a:xfrm>
          <a:prstGeom prst="rect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3375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835D"/>
                </a:solidFill>
                <a:latin typeface="Segoe UI"/>
              </a:defRPr>
            </a:pPr>
            <a:r>
              <a:t>60% du 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Commission marketplace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114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835D"/>
                </a:solidFill>
                <a:latin typeface="Segoe UI"/>
              </a:defRPr>
            </a:pPr>
            <a:r>
              <a:t>2-5% par transaction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805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B5563"/>
                </a:solidFill>
                <a:latin typeface="Segoe UI"/>
              </a:defRPr>
            </a:pPr>
            <a:r>
              <a:t>L'agriculteur vend plus cher, la commission est invisible dans le gain.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108960"/>
            <a:ext cx="3383280" cy="23774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3108960"/>
            <a:ext cx="3383280" cy="45720"/>
          </a:xfrm>
          <a:prstGeom prst="rect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33375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835D"/>
                </a:solidFill>
                <a:latin typeface="Segoe UI"/>
              </a:defRPr>
            </a:pPr>
            <a:r>
              <a:t>30% du 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3657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Scoring-as-a-Service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114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835D"/>
                </a:solidFill>
                <a:latin typeface="Segoe UI"/>
              </a:defRPr>
            </a:pPr>
            <a:r>
              <a:t>150K-500K FCFA/mois par SFD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4805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B5563"/>
                </a:solidFill>
                <a:latin typeface="Segoe UI"/>
              </a:defRPr>
            </a:pPr>
            <a:r>
              <a:t>Les SFD economisent 80% vs l'enquete terrain traditionnelle.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108960"/>
            <a:ext cx="3383280" cy="23774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20" y="3108960"/>
            <a:ext cx="3383280" cy="45720"/>
          </a:xfrm>
          <a:prstGeom prst="rect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33375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835D"/>
                </a:solidFill>
                <a:latin typeface="Segoe UI"/>
              </a:defRPr>
            </a:pPr>
            <a:r>
              <a:t>10% du 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3657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Services a valeur ajoutee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114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835D"/>
                </a:solidFill>
                <a:latin typeface="Segoe UI"/>
              </a:defRPr>
            </a:pPr>
            <a:r>
              <a:t>Commission 5-15%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4805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B5563"/>
                </a:solidFill>
                <a:latin typeface="Segoe UI"/>
              </a:defRPr>
            </a:pPr>
            <a:r>
              <a:t>Assurance recolte, intrants a credit, logistique — marches inaccessibles avant.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669280"/>
            <a:ext cx="2560320" cy="8686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7424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4748B"/>
                </a:solidFill>
                <a:latin typeface="Segoe UI"/>
              </a:defRPr>
            </a:pPr>
            <a:r>
              <a:t>Point mort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989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835D"/>
                </a:solidFill>
                <a:latin typeface="Segoe UI"/>
              </a:defRPr>
            </a:pPr>
            <a:r>
              <a:t>500 agri + 3 SFD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29107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6 mois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66160" y="5669280"/>
            <a:ext cx="2560320" cy="8686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9040" y="57424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4748B"/>
                </a:solidFill>
                <a:latin typeface="Segoe UI"/>
              </a:defRPr>
            </a:pPr>
            <a:r>
              <a:t>Cout marginal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40" y="5989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835D"/>
                </a:solidFill>
                <a:latin typeface="Segoe UI"/>
              </a:defRPr>
            </a:pPr>
            <a:r>
              <a:t>~0 FCFA/agri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9040" y="629107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100% cloud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0" y="5669280"/>
            <a:ext cx="2560320" cy="8686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0" y="57424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4748B"/>
                </a:solidFill>
                <a:latin typeface="Segoe UI"/>
              </a:defRPr>
            </a:pPr>
            <a:r>
              <a:t>TAM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5989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835D"/>
                </a:solidFill>
                <a:latin typeface="Segoe UI"/>
              </a:defRPr>
            </a:pPr>
            <a:r>
              <a:t>60M x 8 pays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629107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Zone UEMOA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5669280"/>
            <a:ext cx="2560320" cy="8686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18320" y="57424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4748B"/>
                </a:solidFill>
                <a:latin typeface="Segoe UI"/>
              </a:defRPr>
            </a:pPr>
            <a:r>
              <a:t>Projection An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5989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835D"/>
                </a:solidFill>
                <a:latin typeface="Segoe UI"/>
              </a:defRPr>
            </a:pPr>
            <a:r>
              <a:t>5 000 utilisateurs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18320" y="629107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Segoe UI"/>
              </a:defRPr>
            </a:pPr>
            <a:r>
              <a:t>CA: 45M FCFA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IMPACT ÉCONOMIQUE &amp; 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Segoe UI"/>
              </a:defRPr>
            </a:pPr>
            <a:r>
              <a:t>Des résultats concrets. Mesurables. Transformateurs.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560320" cy="14630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835D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803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deviennent bancables</a:t>
            </a:r>
            <a:br/>
            <a:r>
              <a:t>en 90 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011680"/>
            <a:ext cx="2560320" cy="14630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1945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563EB"/>
                </a:solidFill>
                <a:latin typeface="Segoe UI"/>
              </a:defRPr>
            </a:pPr>
            <a:r>
              <a:t>-80%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803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coût d'évaluation</a:t>
            </a:r>
            <a:br/>
            <a:r>
              <a:t>pour les SFD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011680"/>
            <a:ext cx="2560320" cy="14630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A8A04"/>
                </a:solidFill>
                <a:latin typeface="Segoe UI"/>
              </a:defRPr>
            </a:pPr>
            <a:r>
              <a:t>90j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8803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du premier crédit</a:t>
            </a:r>
            <a:br/>
            <a:r>
              <a:t>obtenu via FresCoop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2011680"/>
            <a:ext cx="2560320" cy="14630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21945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7C3AED"/>
                </a:solidFill>
                <a:latin typeface="Segoe UI"/>
              </a:defRPr>
            </a:pPr>
            <a:r>
              <a:t>×5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8803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plus d'agriculteurs</a:t>
            </a:r>
            <a:br/>
            <a:r>
              <a:t>financés par SFD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IMPACT SUR L'ACCÈS AU FINANCEMENT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97680"/>
            <a:ext cx="2560320" cy="219456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72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Inclusion des femmes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40% des agricultrices exclues accèdent enfin au crédit grâce à un scoring objectif sans biais de genre.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4297680"/>
            <a:ext cx="2560320" cy="219456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4572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Dossier bancaire portable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1206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L'agriculteur présente son score vérifié à n'importe quelle banque ou SFD de la zone UEMOA.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297680"/>
            <a:ext cx="2560320" cy="219456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572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Crédit sans garantie foncière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1206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Le scoring remplace l'exigence de titre foncier — la preuve d'activité suffit pour le financement.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4297680"/>
            <a:ext cx="2560320" cy="219456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0" y="4572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Réduction du risque SFD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51206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Les SFD financent en connaissance de cause : données vérifiées, historique complet, défaut prévisible.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CE N'EST PAS UN PROTOTYPE. C'EST UN PRODUIT FONCTIONNEL.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FresCoop rend chaque agriculteur</a:t>
            </a:r>
            <a:br/>
            <a:r>
              <a:t>visible, vérifiable et finançable.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Segoe UI"/>
              </a:defRPr>
            </a:pPr>
            <a:r>
              <a:t>Grâce à la preuve économique portable — un dossier bancaire construit</a:t>
            </a:r>
            <a:br/>
            <a:r>
              <a:t>automatiquement à partir de l'activité réelle sur la plateforme.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54880"/>
            <a:ext cx="4572000" cy="640080"/>
          </a:xfrm>
          <a:prstGeom prst="roundRect">
            <a:avLst/>
          </a:prstGeom>
          <a:solidFill>
            <a:srgbClr val="1F83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▶  Démo live : frescoopuemoa.up.railway.app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Segoe UI"/>
              </a:defRPr>
            </a:pPr>
            <a:r>
              <a:t>Contact : contact@frescoop.sn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Hackathon Filières Agricoles GIM-UEMOA 2026 — Point 4 : Accès au financement agricole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0" y="566928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70464" y="5742432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